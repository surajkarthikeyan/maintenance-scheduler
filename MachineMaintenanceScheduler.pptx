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name is Suraj Karthikeyan and today I'm presenting the Machine Maintenance Scheduler — a full-stack web application built for the NTT Data case study.
The core idea is simple: manufacturing plants lose money when machines break down unexpectedly, and that usually happens because routine maintenance was missed. This system solves that.
I built this as a microservices application — five independent services, each with its own database, all deployed live on Railway. You can follow along with the live URL if you want.
Let me walk you through the problem first, then the solution, and then the interesting engineering decisions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how most manufacturing plants actually track maintenance today. It's spreadsheets. Maybe a shared calendar. Someone's job is to manually check dates and send emails when something is coming up.
The problems with that are obvious once you say them out loud. There's no single source of truth. Nothing sends an alert at 3am on a Sunday when a machine crosses its 30-day maintenance window. And there's no distinction between a senior engineer who should be able to modify records and a technician who should only be able to update task statuses.
These aren't hypothetical problems. They're the reasons maintenance gets missed and equipment fails.
My system addresses all four of these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walking through a feature list, I want to set the scale first so you understand what's under the hood.
Five separate microservices — a React frontend, an API gateway, a machine service, a scheduler service, and an alert service. Each service has its own database. They communicate exclusively through HTTP — no service directly touches another's database.
Two user roles — Admin and Technician — with completely different levels of access enforced both on the frontend and the backend.
And that one-hour alert cycle is important. Every hour, automatically, the system checks every machine against its maintenance schedule and raises or resolves alerts. No one has to trigger it. This is what makes it a proper system rather than just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system top to bottom. Let me walk through it.
At the top — the user's browser. Requests go to the React frontend, which talks exclusively to the API gateway. The frontend never knows the address of any individual service.
The gateway is the single entry point for all traffic. It handles CORS, forwards the JWT authentication header, and routes requests to the correct service based on the URL. Nothing passes through without going through the gateway first.
Below that are the three backend services — Machine, Scheduler, and Alert. Each one owns its own database. The dashed arrows show inter-service communication — when a task is completed, the Scheduler calls the Machine service to update the machine's status. When the cron job detects an overdue machine, the Alert service calls the Machine service to flag it.
The whole thing runs in Docker locally and on Railway in production. The architecture is identical in both environments — only the URLs change.
One key design principle: no service ever touches another service's database directly. All communication is through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was one of the first things I built, and I treated it seriously rather than bolting it on at the end.
Login works by the user posting credentials to the gateway. The Machine service fetches the user record, runs bcrypt.compare against the stored hash, and if valid signs a JWT containing the user's ID, username and role. The token expires after 8 hours.
Every subsequent request includes that token in the Authorization header. The gateway forwards it downstream, and the requireAuth middleware in the Machine service verifies it before any route handler runs.
The two roles work exactly as you see here. Admins have full access. Technicians can view everything and update task statuses — but they can't create machines, delete anything, or manage other users. This is enforced on both the frontend and the backend independently, so it can't be bypassed by just typing a URL.
One security detail worth mentioning: the login endpoint returns the exact same error message whether the username doesn't exist or the password is wrong. That's intentional — different messages would let attackers enumerate which usernames are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of the system I'm most proud of and the part that makes it genuinely useful rather than just a CRUD app.
The cron job is a background task that runs every hour, exactly at the top of the hour, completely independently of any user action. No one has to be logged in. No one has to trigger anything. The system is continuously aware of the state of every machine.
Here's what happens on each run. It fetches all machines from the Machine service — importantly, it calls the API, not the database directly, because the Machine service owns that data. It classifies each machine: over 30 days overdue is Critical, any positive days_overdue is Overdue, within 7 days is Due Soon. It upserts the alert — deletes any existing unresolved alert and inserts a fresh one, so you never get duplicates stacking up over 24 runs. It patches the machine status to Needs Maintenance for anything overdue. And if a machine has been fixed and days_overdue has gone negative, it automatically resolves the alert and resets the status to Operational.
Three design decisions worth calling out. First — it runs immediately when the service boots, not just on the cron schedule. If the service restarts at 11:58pm, without that startup call you'd have a 58-minute window with no alerts. Second — the upsert pattern. Early versions just inserted, which meant you'd have 24 identical alerts by the end of the day. Third — auto-resolution. When a task is completed and the last_maintenance_date is updated, the next cron run detects that days_overdue is now negative and resolves everything automatically. The system heals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now.
[Open machine-scheduler-deployment.up.railway.app]
Login as admin first — username: admin, password: NTTDATA.
Show the dashboard. Point out the stat cards — total machines, active alerts, overdue tasks. Mention the date range filter in the top right.
Go to the Machines page. Pick one that's overdue. Click through to the detail page — show the days overdue banner, the notes field, the task history.
Now schedule a new task for that machine. Set status to In Progress. Go back to the machine — status should now show Under Maintenance. That's the Scheduler service calling the Machine service in real time.
Mark the task as Completed. Go back to the machine again — status resets to Operational, last_maintenance_date updated to today.
Now logout and log back in as a technician. [Use a technician account if one was pre-created, or create one first as admin.] Try to access the Users page by typing /users in the URL — it should redirect you away. Try to find the Add Machine or Delete button — they won't be there.
Finally, go to Alerts and click Run Check Now. Watch the alerts update immediately without waiting for the hourly tick.
[Switch back to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four decisions I made consciously that I want to call out, because they show this wasn't just built by following tutorials.
First — express-http-proxy over http-proxy-middleware. The reason is specific: express-http-proxy exposes proxyReqOptDecorator, which lets you intercept and modify the outgoing request before it's forwarded. That's what's needed to preserve the JWT Authorization header across the proxy boundary. http-proxy-middleware doesn't give you that hook in the same clean way. The choice was driven by what the system required, not by what was most popular on npm.
Second — computing days_overdue and next_due_date in SQL rather than storing them. Every SELECT uses DATE_ADD and DATEDIFF. This means the values are always accurate to the exact second the query runs. There's no background job to keep them in sync, no risk of stale data if something fails. The database just tells you the truth on every read.
Third — the startup run on the cron job. If the alert service restarts at 11:58pm, without a startup call there's a 58-minute window before the first cron tick where alerts could be stale or missing. The fix was trivial — call runOverdueCheck() immediately after the server starts listening. But it required noticing the problem first.
Fourth — the same error message for wrong username and wrong password. This is a standard security practice called preventing username enumeration. If I returned different messages, an attacker could run a list of usernames through the login endpoint and discover which ones are valid accounts. "Invalid credentials" reveals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panel asks "what challenges did you face" — so I want to give you real answers, not vague ones.
The first one hit me hard. I had the gateway proxying requests, authentication working in isolation — but every authenticated request through the gateway was returning 401. Took a while to track down that express-http-proxy strips custom headers including Authorization by default. The fix was the proxyReqOptDecorator, which lets you manually re-attach headers before the request is forwarded.
The second is a Docker gotcha that trips up a lot of people. I'd write a service that connects to MySQL on startup — but the MySQL container wasn't ready yet even though Docker said it was "up". The fix is proper healthchecks: a condition in docker-compose that waits until MySQL can actually accept a TCP connection, not just until the container process has started.
The third is a classic Express ordering bug. I had a route GET /api/machines/:id and I added GET /api/machines/overdue later — but Express matched "overdue" as an ID and passed it to the wrong handler. You have to register specific routes before parameterised ones.
The fourth was in the cron job. Initially I just inserted a new alert on each run. By the end of the day a machine would have 24 identical "Overdue" alerts. The fix was the upsert pattern — delete any existing unresolved alert for the machine before inserting the new one.
These are all real bugs I actually hit and had to debug. Not ones I read about in a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about what's missing and what I'd prioritise with more time.
The first item is worth clarifying precisely. User authentication works correctly — when a user logs in they receive a JWT that travels with every browser request and is verified on every protected route. The gap is different: when the Alert service calls the Machine service internally — server to server, no user involved — it sends no token. In production you'd add a service-level API key or machine-to-machine credential, completely separate from user JWTs, so internal traffic is authenticated on its own terms.
Second — unit tests. The three most critical paths: the RBAC middleware correctly rejecting a non-admin, the days_overdue SQL calculation, and the bulk schedule partial failure handling. Targeted tests over full coverage.
Third — Slack or Teams notifications. The cron job already detects when a machine goes Critical at 3am. But right now nobody knows about it until someone opens the dashboard. A webhook call to Slack or Teams when severity crosses a threshold means the right person is notified immediately, which is exactly what a real maintenance team would need.
Fourth — audit logging and role expansion. In a manufacturing compliance context, knowing who changed what and when is genuinely important. Which admin deleted a machine, which technician marked a task complete. Alongside that, a Supervisor read-only role or an external API token for third-party systems to query machine status would reflect how a system like this naturally grows in a real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 here's what I'd want you to take away.
This isn't a CRUD app with a nice frontend. It's a system with real security, real automation, and a production deployment. The authentication and role-based access control is something most case study submissions skip entirely. The cron job means the system is doing useful work around the clock regardless of whether any user is logged in. And you can go to that URL right now and use it.
I'm happy to take questions on any part of it — the architecture, the technical decisions, the challenges, or anything you saw in the demo.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2C34"/>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56B6C2"/>
          </a:solidFill>
          <a:ln w="12700">
            <a:solidFill>
              <a:srgbClr val="56B6C2"/>
            </a:solidFill>
            <a:prstDash val="solid"/>
          </a:ln>
        </p:spPr>
      </p:sp>
      <p:sp>
        <p:nvSpPr>
          <p:cNvPr id="3" name="Shape 1"/>
          <p:cNvSpPr/>
          <p:nvPr/>
        </p:nvSpPr>
        <p:spPr>
          <a:xfrm>
            <a:off x="5120640" y="0"/>
            <a:ext cx="4023360" cy="5143500"/>
          </a:xfrm>
          <a:prstGeom prst="rect">
            <a:avLst/>
          </a:prstGeom>
          <a:solidFill>
            <a:srgbClr val="21252B"/>
          </a:solidFill>
          <a:ln w="12700">
            <a:solidFill>
              <a:srgbClr val="21252B"/>
            </a:solidFill>
            <a:prstDash val="solid"/>
          </a:ln>
        </p:spPr>
      </p:sp>
      <p:sp>
        <p:nvSpPr>
          <p:cNvPr id="4" name="Text 2"/>
          <p:cNvSpPr/>
          <p:nvPr/>
        </p:nvSpPr>
        <p:spPr>
          <a:xfrm>
            <a:off x="411480" y="822960"/>
            <a:ext cx="4937760" cy="822960"/>
          </a:xfrm>
          <a:prstGeom prst="rect">
            <a:avLst/>
          </a:prstGeom>
          <a:noFill/>
          <a:ln/>
        </p:spPr>
        <p:txBody>
          <a:bodyPr wrap="square" lIns="0" tIns="0" rIns="0" bIns="0" rtlCol="0" anchor="ctr"/>
          <a:lstStyle/>
          <a:p>
            <a:pPr indent="0" marL="0">
              <a:buNone/>
            </a:pPr>
            <a:r>
              <a:rPr lang="en-US" sz="4200" b="1" dirty="0">
                <a:solidFill>
                  <a:srgbClr val="DCDFE4"/>
                </a:solidFill>
                <a:latin typeface="Calibri" pitchFamily="34" charset="0"/>
                <a:ea typeface="Calibri" pitchFamily="34" charset="-122"/>
                <a:cs typeface="Calibri" pitchFamily="34" charset="-120"/>
              </a:rPr>
              <a:t>Machine Maintenance</a:t>
            </a:r>
            <a:endParaRPr lang="en-US" sz="4200" dirty="0"/>
          </a:p>
        </p:txBody>
      </p:sp>
      <p:sp>
        <p:nvSpPr>
          <p:cNvPr id="5" name="Text 3"/>
          <p:cNvSpPr/>
          <p:nvPr/>
        </p:nvSpPr>
        <p:spPr>
          <a:xfrm>
            <a:off x="411480" y="1600200"/>
            <a:ext cx="4937760" cy="822960"/>
          </a:xfrm>
          <a:prstGeom prst="rect">
            <a:avLst/>
          </a:prstGeom>
          <a:noFill/>
          <a:ln/>
        </p:spPr>
        <p:txBody>
          <a:bodyPr wrap="square" lIns="0" tIns="0" rIns="0" bIns="0" rtlCol="0" anchor="ctr"/>
          <a:lstStyle/>
          <a:p>
            <a:pPr indent="0" marL="0">
              <a:buNone/>
            </a:pPr>
            <a:r>
              <a:rPr lang="en-US" sz="4200" b="1" dirty="0">
                <a:solidFill>
                  <a:srgbClr val="56B6C2"/>
                </a:solidFill>
                <a:latin typeface="Calibri" pitchFamily="34" charset="0"/>
                <a:ea typeface="Calibri" pitchFamily="34" charset="-122"/>
                <a:cs typeface="Calibri" pitchFamily="34" charset="-120"/>
              </a:rPr>
              <a:t>Scheduler</a:t>
            </a:r>
            <a:endParaRPr lang="en-US" sz="4200" dirty="0"/>
          </a:p>
        </p:txBody>
      </p:sp>
      <p:sp>
        <p:nvSpPr>
          <p:cNvPr id="6" name="Shape 4"/>
          <p:cNvSpPr/>
          <p:nvPr/>
        </p:nvSpPr>
        <p:spPr>
          <a:xfrm>
            <a:off x="411480" y="2514600"/>
            <a:ext cx="4114800" cy="54864"/>
          </a:xfrm>
          <a:prstGeom prst="rect">
            <a:avLst/>
          </a:prstGeom>
          <a:solidFill>
            <a:srgbClr val="3E4451"/>
          </a:solidFill>
          <a:ln w="12700">
            <a:solidFill>
              <a:srgbClr val="3E4451"/>
            </a:solidFill>
            <a:prstDash val="solid"/>
          </a:ln>
        </p:spPr>
      </p:sp>
      <p:sp>
        <p:nvSpPr>
          <p:cNvPr id="7" name="Text 5"/>
          <p:cNvSpPr/>
          <p:nvPr/>
        </p:nvSpPr>
        <p:spPr>
          <a:xfrm>
            <a:off x="411480" y="2633472"/>
            <a:ext cx="4572000" cy="365760"/>
          </a:xfrm>
          <a:prstGeom prst="rect">
            <a:avLst/>
          </a:prstGeom>
          <a:noFill/>
          <a:ln/>
        </p:spPr>
        <p:txBody>
          <a:bodyPr wrap="square" lIns="0" tIns="0" rIns="0" bIns="0" rtlCol="0" anchor="ctr"/>
          <a:lstStyle/>
          <a:p>
            <a:pPr indent="0" marL="0">
              <a:buNone/>
            </a:pPr>
            <a:r>
              <a:rPr lang="en-US" sz="1200" dirty="0">
                <a:solidFill>
                  <a:srgbClr val="5C6370"/>
                </a:solidFill>
              </a:rPr>
              <a:t>Full-stack microservices · Live on Railway · NTT Data Case Study</a:t>
            </a:r>
            <a:endParaRPr lang="en-US" sz="1200" dirty="0"/>
          </a:p>
        </p:txBody>
      </p:sp>
      <p:sp>
        <p:nvSpPr>
          <p:cNvPr id="8" name="Text 6"/>
          <p:cNvSpPr/>
          <p:nvPr/>
        </p:nvSpPr>
        <p:spPr>
          <a:xfrm>
            <a:off x="5486400" y="1920240"/>
            <a:ext cx="3291840" cy="365760"/>
          </a:xfrm>
          <a:prstGeom prst="rect">
            <a:avLst/>
          </a:prstGeom>
          <a:noFill/>
          <a:ln/>
        </p:spPr>
        <p:txBody>
          <a:bodyPr wrap="square" lIns="0" tIns="0" rIns="0" bIns="0" rtlCol="0" anchor="ctr"/>
          <a:lstStyle/>
          <a:p>
            <a:pPr algn="ctr" indent="0" marL="0">
              <a:buNone/>
            </a:pPr>
            <a:r>
              <a:rPr lang="en-US" sz="1400" dirty="0">
                <a:solidFill>
                  <a:srgbClr val="DCDFE4"/>
                </a:solidFill>
              </a:rPr>
              <a:t>Suraj Karthikeyan</a:t>
            </a:r>
            <a:endParaRPr lang="en-US" sz="1400" dirty="0"/>
          </a:p>
        </p:txBody>
      </p:sp>
      <p:sp>
        <p:nvSpPr>
          <p:cNvPr id="9" name="Text 7"/>
          <p:cNvSpPr/>
          <p:nvPr/>
        </p:nvSpPr>
        <p:spPr>
          <a:xfrm>
            <a:off x="5486400" y="2377440"/>
            <a:ext cx="3291840" cy="365760"/>
          </a:xfrm>
          <a:prstGeom prst="rect">
            <a:avLst/>
          </a:prstGeom>
          <a:noFill/>
          <a:ln/>
        </p:spPr>
        <p:txBody>
          <a:bodyPr wrap="square" lIns="0" tIns="0" rIns="0" bIns="0" rtlCol="0" anchor="ctr"/>
          <a:lstStyle/>
          <a:p>
            <a:pPr algn="ctr" indent="0" marL="0">
              <a:buNone/>
            </a:pPr>
            <a:r>
              <a:rPr lang="en-US" sz="1300" dirty="0">
                <a:solidFill>
                  <a:srgbClr val="5C6370"/>
                </a:solidFill>
              </a:rPr>
              <a:t>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82C34"/>
        </a:solidFill>
      </p:bgPr>
    </p:bg>
    <p:spTree>
      <p:nvGrpSpPr>
        <p:cNvPr id="1" name=""/>
        <p:cNvGrpSpPr/>
        <p:nvPr/>
      </p:nvGrpSpPr>
      <p:grpSpPr>
        <a:xfrm>
          <a:off x="0" y="0"/>
          <a:ext cx="0" cy="0"/>
          <a:chOff x="0" y="0"/>
          <a:chExt cx="0" cy="0"/>
        </a:xfrm>
      </p:grpSpPr>
      <p:sp>
        <p:nvSpPr>
          <p:cNvPr id="2" name="Text 0"/>
          <p:cNvSpPr/>
          <p:nvPr/>
        </p:nvSpPr>
        <p:spPr>
          <a:xfrm>
            <a:off x="548640" y="201168"/>
            <a:ext cx="8229600" cy="237744"/>
          </a:xfrm>
          <a:prstGeom prst="rect">
            <a:avLst/>
          </a:prstGeom>
          <a:noFill/>
          <a:ln/>
        </p:spPr>
        <p:txBody>
          <a:bodyPr wrap="square" lIns="0" tIns="0" rIns="0" bIns="0" rtlCol="0" anchor="ctr"/>
          <a:lstStyle/>
          <a:p>
            <a:pPr indent="0" marL="0">
              <a:buNone/>
            </a:pPr>
            <a:r>
              <a:rPr lang="en-US" sz="800" b="1" spc="300" kern="0" dirty="0">
                <a:solidFill>
                  <a:srgbClr val="56B6C2"/>
                </a:solidFill>
              </a:rPr>
              <a:t>THE PROBLEM</a:t>
            </a:r>
            <a:endParaRPr lang="en-US" sz="800" dirty="0"/>
          </a:p>
        </p:txBody>
      </p:sp>
      <p:sp>
        <p:nvSpPr>
          <p:cNvPr id="3" name="Text 1"/>
          <p:cNvSpPr/>
          <p:nvPr/>
        </p:nvSpPr>
        <p:spPr>
          <a:xfrm>
            <a:off x="548640" y="502920"/>
            <a:ext cx="8046720" cy="685800"/>
          </a:xfrm>
          <a:prstGeom prst="rect">
            <a:avLst/>
          </a:prstGeom>
          <a:noFill/>
          <a:ln/>
        </p:spPr>
        <p:txBody>
          <a:bodyPr wrap="square" lIns="0" tIns="0" rIns="0" bIns="0" rtlCol="0" anchor="ctr"/>
          <a:lstStyle/>
          <a:p>
            <a:pPr indent="0" marL="0">
              <a:buNone/>
            </a:pPr>
            <a:r>
              <a:rPr lang="en-US" sz="3600" b="1" dirty="0">
                <a:solidFill>
                  <a:srgbClr val="DCDFE4"/>
                </a:solidFill>
                <a:latin typeface="Calibri" pitchFamily="34" charset="0"/>
                <a:ea typeface="Calibri" pitchFamily="34" charset="-122"/>
                <a:cs typeface="Calibri" pitchFamily="34" charset="-120"/>
              </a:rPr>
              <a:t>The cost of missed maintenance</a:t>
            </a:r>
            <a:endParaRPr lang="en-US" sz="3600" dirty="0"/>
          </a:p>
        </p:txBody>
      </p:sp>
      <p:sp>
        <p:nvSpPr>
          <p:cNvPr id="4" name="Shape 2"/>
          <p:cNvSpPr/>
          <p:nvPr/>
        </p:nvSpPr>
        <p:spPr>
          <a:xfrm>
            <a:off x="548640" y="4864608"/>
            <a:ext cx="8046720" cy="0"/>
          </a:xfrm>
          <a:prstGeom prst="line">
            <a:avLst/>
          </a:prstGeom>
          <a:noFill/>
          <a:ln w="5080">
            <a:solidFill>
              <a:srgbClr val="3E4451"/>
            </a:solidFill>
            <a:prstDash val="solid"/>
          </a:ln>
        </p:spPr>
      </p:sp>
      <p:sp>
        <p:nvSpPr>
          <p:cNvPr id="5" name="Text 3"/>
          <p:cNvSpPr/>
          <p:nvPr/>
        </p:nvSpPr>
        <p:spPr>
          <a:xfrm>
            <a:off x="548640" y="4901184"/>
            <a:ext cx="6400800" cy="182880"/>
          </a:xfrm>
          <a:prstGeom prst="rect">
            <a:avLst/>
          </a:prstGeom>
          <a:noFill/>
          <a:ln/>
        </p:spPr>
        <p:txBody>
          <a:bodyPr wrap="square" lIns="0" tIns="0" rIns="0" bIns="0" rtlCol="0" anchor="ctr"/>
          <a:lstStyle/>
          <a:p>
            <a:pPr indent="0" marL="0">
              <a:buNone/>
            </a:pPr>
            <a:r>
              <a:rPr lang="en-US" sz="750" dirty="0">
                <a:solidFill>
                  <a:srgbClr val="5C6370"/>
                </a:solidFill>
              </a:rPr>
              <a:t>Machine Maintenance Scheduler  ·  NTT Data Case Study</a:t>
            </a:r>
            <a:endParaRPr lang="en-US" sz="750" dirty="0"/>
          </a:p>
        </p:txBody>
      </p:sp>
      <p:sp>
        <p:nvSpPr>
          <p:cNvPr id="6" name="Text 4"/>
          <p:cNvSpPr/>
          <p:nvPr/>
        </p:nvSpPr>
        <p:spPr>
          <a:xfrm>
            <a:off x="6858000" y="4901184"/>
            <a:ext cx="1920240" cy="182880"/>
          </a:xfrm>
          <a:prstGeom prst="rect">
            <a:avLst/>
          </a:prstGeom>
          <a:noFill/>
          <a:ln/>
        </p:spPr>
        <p:txBody>
          <a:bodyPr wrap="square" lIns="0" tIns="0" rIns="0" bIns="0" rtlCol="0" anchor="ctr"/>
          <a:lstStyle/>
          <a:p>
            <a:pPr algn="r" indent="0" marL="0">
              <a:buNone/>
            </a:pPr>
            <a:r>
              <a:rPr lang="en-US" sz="750" dirty="0">
                <a:solidFill>
                  <a:srgbClr val="5C6370"/>
                </a:solidFill>
              </a:rPr>
              <a:t>Suraj Karthikeyan</a:t>
            </a:r>
            <a:endParaRPr lang="en-US" sz="750" dirty="0"/>
          </a:p>
        </p:txBody>
      </p:sp>
      <p:sp>
        <p:nvSpPr>
          <p:cNvPr id="7" name="Shape 5"/>
          <p:cNvSpPr/>
          <p:nvPr/>
        </p:nvSpPr>
        <p:spPr>
          <a:xfrm>
            <a:off x="548640" y="1545336"/>
            <a:ext cx="54864" cy="256032"/>
          </a:xfrm>
          <a:prstGeom prst="rect">
            <a:avLst/>
          </a:prstGeom>
          <a:solidFill>
            <a:srgbClr val="E06C75"/>
          </a:solidFill>
          <a:ln w="12700">
            <a:solidFill>
              <a:srgbClr val="E06C75"/>
            </a:solidFill>
            <a:prstDash val="solid"/>
          </a:ln>
        </p:spPr>
      </p:sp>
      <p:sp>
        <p:nvSpPr>
          <p:cNvPr id="8" name="Text 6"/>
          <p:cNvSpPr/>
          <p:nvPr/>
        </p:nvSpPr>
        <p:spPr>
          <a:xfrm>
            <a:off x="694944" y="1508760"/>
            <a:ext cx="7900416" cy="329184"/>
          </a:xfrm>
          <a:prstGeom prst="rect">
            <a:avLst/>
          </a:prstGeom>
          <a:noFill/>
          <a:ln/>
        </p:spPr>
        <p:txBody>
          <a:bodyPr wrap="square" lIns="0" tIns="0" rIns="0" bIns="0" rtlCol="0" anchor="ctr"/>
          <a:lstStyle/>
          <a:p>
            <a:pPr indent="0" marL="0">
              <a:buNone/>
            </a:pPr>
            <a:r>
              <a:rPr lang="en-US" sz="1300" dirty="0">
                <a:solidFill>
                  <a:srgbClr val="ABB2BF"/>
                </a:solidFill>
              </a:rPr>
              <a:t>No central view of which machines are overdue</a:t>
            </a:r>
            <a:endParaRPr lang="en-US" sz="1300" dirty="0"/>
          </a:p>
        </p:txBody>
      </p:sp>
      <p:sp>
        <p:nvSpPr>
          <p:cNvPr id="9" name="Shape 7"/>
          <p:cNvSpPr/>
          <p:nvPr/>
        </p:nvSpPr>
        <p:spPr>
          <a:xfrm>
            <a:off x="548640" y="2295144"/>
            <a:ext cx="54864" cy="256032"/>
          </a:xfrm>
          <a:prstGeom prst="rect">
            <a:avLst/>
          </a:prstGeom>
          <a:solidFill>
            <a:srgbClr val="E5C07B"/>
          </a:solidFill>
          <a:ln w="12700">
            <a:solidFill>
              <a:srgbClr val="E5C07B"/>
            </a:solidFill>
            <a:prstDash val="solid"/>
          </a:ln>
        </p:spPr>
      </p:sp>
      <p:sp>
        <p:nvSpPr>
          <p:cNvPr id="10" name="Text 8"/>
          <p:cNvSpPr/>
          <p:nvPr/>
        </p:nvSpPr>
        <p:spPr>
          <a:xfrm>
            <a:off x="694944" y="2258568"/>
            <a:ext cx="7900416" cy="329184"/>
          </a:xfrm>
          <a:prstGeom prst="rect">
            <a:avLst/>
          </a:prstGeom>
          <a:noFill/>
          <a:ln/>
        </p:spPr>
        <p:txBody>
          <a:bodyPr wrap="square" lIns="0" tIns="0" rIns="0" bIns="0" rtlCol="0" anchor="ctr"/>
          <a:lstStyle/>
          <a:p>
            <a:pPr indent="0" marL="0">
              <a:buNone/>
            </a:pPr>
            <a:r>
              <a:rPr lang="en-US" sz="1300" dirty="0">
                <a:solidFill>
                  <a:srgbClr val="ABB2BF"/>
                </a:solidFill>
              </a:rPr>
              <a:t>Maintenance tracked in spreadsheets — error-prone</a:t>
            </a:r>
            <a:endParaRPr lang="en-US" sz="1300" dirty="0"/>
          </a:p>
        </p:txBody>
      </p:sp>
      <p:sp>
        <p:nvSpPr>
          <p:cNvPr id="11" name="Shape 9"/>
          <p:cNvSpPr/>
          <p:nvPr/>
        </p:nvSpPr>
        <p:spPr>
          <a:xfrm>
            <a:off x="548640" y="3044952"/>
            <a:ext cx="54864" cy="256032"/>
          </a:xfrm>
          <a:prstGeom prst="rect">
            <a:avLst/>
          </a:prstGeom>
          <a:solidFill>
            <a:srgbClr val="C678DD"/>
          </a:solidFill>
          <a:ln w="12700">
            <a:solidFill>
              <a:srgbClr val="C678DD"/>
            </a:solidFill>
            <a:prstDash val="solid"/>
          </a:ln>
        </p:spPr>
      </p:sp>
      <p:sp>
        <p:nvSpPr>
          <p:cNvPr id="12" name="Text 10"/>
          <p:cNvSpPr/>
          <p:nvPr/>
        </p:nvSpPr>
        <p:spPr>
          <a:xfrm>
            <a:off x="694944" y="3008376"/>
            <a:ext cx="7900416" cy="329184"/>
          </a:xfrm>
          <a:prstGeom prst="rect">
            <a:avLst/>
          </a:prstGeom>
          <a:noFill/>
          <a:ln/>
        </p:spPr>
        <p:txBody>
          <a:bodyPr wrap="square" lIns="0" tIns="0" rIns="0" bIns="0" rtlCol="0" anchor="ctr"/>
          <a:lstStyle/>
          <a:p>
            <a:pPr indent="0" marL="0">
              <a:buNone/>
            </a:pPr>
            <a:r>
              <a:rPr lang="en-US" sz="1300" dirty="0">
                <a:solidFill>
                  <a:srgbClr val="ABB2BF"/>
                </a:solidFill>
              </a:rPr>
              <a:t>Nothing alerts the team when a deadline passes</a:t>
            </a:r>
            <a:endParaRPr lang="en-US" sz="1300" dirty="0"/>
          </a:p>
        </p:txBody>
      </p:sp>
      <p:sp>
        <p:nvSpPr>
          <p:cNvPr id="13" name="Shape 11"/>
          <p:cNvSpPr/>
          <p:nvPr/>
        </p:nvSpPr>
        <p:spPr>
          <a:xfrm>
            <a:off x="548640" y="3794760"/>
            <a:ext cx="54864" cy="256032"/>
          </a:xfrm>
          <a:prstGeom prst="rect">
            <a:avLst/>
          </a:prstGeom>
          <a:solidFill>
            <a:srgbClr val="61AFEF"/>
          </a:solidFill>
          <a:ln w="12700">
            <a:solidFill>
              <a:srgbClr val="61AFEF"/>
            </a:solidFill>
            <a:prstDash val="solid"/>
          </a:ln>
        </p:spPr>
      </p:sp>
      <p:sp>
        <p:nvSpPr>
          <p:cNvPr id="14" name="Text 12"/>
          <p:cNvSpPr/>
          <p:nvPr/>
        </p:nvSpPr>
        <p:spPr>
          <a:xfrm>
            <a:off x="694944" y="3758184"/>
            <a:ext cx="7900416" cy="329184"/>
          </a:xfrm>
          <a:prstGeom prst="rect">
            <a:avLst/>
          </a:prstGeom>
          <a:noFill/>
          <a:ln/>
        </p:spPr>
        <p:txBody>
          <a:bodyPr wrap="square" lIns="0" tIns="0" rIns="0" bIns="0" rtlCol="0" anchor="ctr"/>
          <a:lstStyle/>
          <a:p>
            <a:pPr indent="0" marL="0">
              <a:buNone/>
            </a:pPr>
            <a:r>
              <a:rPr lang="en-US" sz="1300" dirty="0">
                <a:solidFill>
                  <a:srgbClr val="ABB2BF"/>
                </a:solidFill>
              </a:rPr>
              <a:t>No control over who can change what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82C34"/>
        </a:solidFill>
      </p:bgPr>
    </p:bg>
    <p:spTree>
      <p:nvGrpSpPr>
        <p:cNvPr id="1" name=""/>
        <p:cNvGrpSpPr/>
        <p:nvPr/>
      </p:nvGrpSpPr>
      <p:grpSpPr>
        <a:xfrm>
          <a:off x="0" y="0"/>
          <a:ext cx="0" cy="0"/>
          <a:chOff x="0" y="0"/>
          <a:chExt cx="0" cy="0"/>
        </a:xfrm>
      </p:grpSpPr>
      <p:sp>
        <p:nvSpPr>
          <p:cNvPr id="2" name="Text 0"/>
          <p:cNvSpPr/>
          <p:nvPr/>
        </p:nvSpPr>
        <p:spPr>
          <a:xfrm>
            <a:off x="548640" y="201168"/>
            <a:ext cx="8229600" cy="237744"/>
          </a:xfrm>
          <a:prstGeom prst="rect">
            <a:avLst/>
          </a:prstGeom>
          <a:noFill/>
          <a:ln/>
        </p:spPr>
        <p:txBody>
          <a:bodyPr wrap="square" lIns="0" tIns="0" rIns="0" bIns="0" rtlCol="0" anchor="ctr"/>
          <a:lstStyle/>
          <a:p>
            <a:pPr indent="0" marL="0">
              <a:buNone/>
            </a:pPr>
            <a:r>
              <a:rPr lang="en-US" sz="800" b="1" spc="300" kern="0" dirty="0">
                <a:solidFill>
                  <a:srgbClr val="56B6C2"/>
                </a:solidFill>
              </a:rPr>
              <a:t>THE SOLUTION</a:t>
            </a:r>
            <a:endParaRPr lang="en-US" sz="800" dirty="0"/>
          </a:p>
        </p:txBody>
      </p:sp>
      <p:sp>
        <p:nvSpPr>
          <p:cNvPr id="3" name="Text 1"/>
          <p:cNvSpPr/>
          <p:nvPr/>
        </p:nvSpPr>
        <p:spPr>
          <a:xfrm>
            <a:off x="548640" y="502920"/>
            <a:ext cx="8046720" cy="685800"/>
          </a:xfrm>
          <a:prstGeom prst="rect">
            <a:avLst/>
          </a:prstGeom>
          <a:noFill/>
          <a:ln/>
        </p:spPr>
        <p:txBody>
          <a:bodyPr wrap="square" lIns="0" tIns="0" rIns="0" bIns="0" rtlCol="0" anchor="ctr"/>
          <a:lstStyle/>
          <a:p>
            <a:pPr indent="0" marL="0">
              <a:buNone/>
            </a:pPr>
            <a:r>
              <a:rPr lang="en-US" sz="3600" b="1" dirty="0">
                <a:solidFill>
                  <a:srgbClr val="DCDFE4"/>
                </a:solidFill>
                <a:latin typeface="Calibri" pitchFamily="34" charset="0"/>
                <a:ea typeface="Calibri" pitchFamily="34" charset="-122"/>
                <a:cs typeface="Calibri" pitchFamily="34" charset="-120"/>
              </a:rPr>
              <a:t>One platform — machines, tasks, alerts, access</a:t>
            </a:r>
            <a:endParaRPr lang="en-US" sz="3600" dirty="0"/>
          </a:p>
        </p:txBody>
      </p:sp>
      <p:sp>
        <p:nvSpPr>
          <p:cNvPr id="4" name="Shape 2"/>
          <p:cNvSpPr/>
          <p:nvPr/>
        </p:nvSpPr>
        <p:spPr>
          <a:xfrm>
            <a:off x="548640" y="4864608"/>
            <a:ext cx="8046720" cy="0"/>
          </a:xfrm>
          <a:prstGeom prst="line">
            <a:avLst/>
          </a:prstGeom>
          <a:noFill/>
          <a:ln w="5080">
            <a:solidFill>
              <a:srgbClr val="3E4451"/>
            </a:solidFill>
            <a:prstDash val="solid"/>
          </a:ln>
        </p:spPr>
      </p:sp>
      <p:sp>
        <p:nvSpPr>
          <p:cNvPr id="5" name="Text 3"/>
          <p:cNvSpPr/>
          <p:nvPr/>
        </p:nvSpPr>
        <p:spPr>
          <a:xfrm>
            <a:off x="548640" y="4901184"/>
            <a:ext cx="6400800" cy="182880"/>
          </a:xfrm>
          <a:prstGeom prst="rect">
            <a:avLst/>
          </a:prstGeom>
          <a:noFill/>
          <a:ln/>
        </p:spPr>
        <p:txBody>
          <a:bodyPr wrap="square" lIns="0" tIns="0" rIns="0" bIns="0" rtlCol="0" anchor="ctr"/>
          <a:lstStyle/>
          <a:p>
            <a:pPr indent="0" marL="0">
              <a:buNone/>
            </a:pPr>
            <a:r>
              <a:rPr lang="en-US" sz="750" dirty="0">
                <a:solidFill>
                  <a:srgbClr val="5C6370"/>
                </a:solidFill>
              </a:rPr>
              <a:t>Machine Maintenance Scheduler  ·  NTT Data Case Study</a:t>
            </a:r>
            <a:endParaRPr lang="en-US" sz="750" dirty="0"/>
          </a:p>
        </p:txBody>
      </p:sp>
      <p:sp>
        <p:nvSpPr>
          <p:cNvPr id="6" name="Text 4"/>
          <p:cNvSpPr/>
          <p:nvPr/>
        </p:nvSpPr>
        <p:spPr>
          <a:xfrm>
            <a:off x="6858000" y="4901184"/>
            <a:ext cx="1920240" cy="182880"/>
          </a:xfrm>
          <a:prstGeom prst="rect">
            <a:avLst/>
          </a:prstGeom>
          <a:noFill/>
          <a:ln/>
        </p:spPr>
        <p:txBody>
          <a:bodyPr wrap="square" lIns="0" tIns="0" rIns="0" bIns="0" rtlCol="0" anchor="ctr"/>
          <a:lstStyle/>
          <a:p>
            <a:pPr algn="r" indent="0" marL="0">
              <a:buNone/>
            </a:pPr>
            <a:r>
              <a:rPr lang="en-US" sz="750" dirty="0">
                <a:solidFill>
                  <a:srgbClr val="5C6370"/>
                </a:solidFill>
              </a:rPr>
              <a:t>Suraj Karthikeyan</a:t>
            </a:r>
            <a:endParaRPr lang="en-US" sz="750" dirty="0"/>
          </a:p>
        </p:txBody>
      </p:sp>
      <p:sp>
        <p:nvSpPr>
          <p:cNvPr id="7" name="Text 5"/>
          <p:cNvSpPr/>
          <p:nvPr/>
        </p:nvSpPr>
        <p:spPr>
          <a:xfrm>
            <a:off x="365760" y="1554480"/>
            <a:ext cx="2194560" cy="914400"/>
          </a:xfrm>
          <a:prstGeom prst="rect">
            <a:avLst/>
          </a:prstGeom>
          <a:noFill/>
          <a:ln/>
        </p:spPr>
        <p:txBody>
          <a:bodyPr wrap="square" lIns="0" tIns="0" rIns="0" bIns="0" rtlCol="0" anchor="ctr"/>
          <a:lstStyle/>
          <a:p>
            <a:pPr algn="ctr" indent="0" marL="0">
              <a:buNone/>
            </a:pPr>
            <a:r>
              <a:rPr lang="en-US" sz="6000" b="1" dirty="0">
                <a:solidFill>
                  <a:srgbClr val="56B6C2"/>
                </a:solidFill>
                <a:latin typeface="Calibri" pitchFamily="34" charset="0"/>
                <a:ea typeface="Calibri" pitchFamily="34" charset="-122"/>
                <a:cs typeface="Calibri" pitchFamily="34" charset="-120"/>
              </a:rPr>
              <a:t>5</a:t>
            </a:r>
            <a:endParaRPr lang="en-US" sz="6000" dirty="0"/>
          </a:p>
        </p:txBody>
      </p:sp>
      <p:sp>
        <p:nvSpPr>
          <p:cNvPr id="8" name="Text 6"/>
          <p:cNvSpPr/>
          <p:nvPr/>
        </p:nvSpPr>
        <p:spPr>
          <a:xfrm>
            <a:off x="365760" y="2423160"/>
            <a:ext cx="2194560" cy="274320"/>
          </a:xfrm>
          <a:prstGeom prst="rect">
            <a:avLst/>
          </a:prstGeom>
          <a:noFill/>
          <a:ln/>
        </p:spPr>
        <p:txBody>
          <a:bodyPr wrap="square" lIns="0" tIns="0" rIns="0" bIns="0" rtlCol="0" anchor="ctr"/>
          <a:lstStyle/>
          <a:p>
            <a:pPr algn="ctr" indent="0" marL="0">
              <a:buNone/>
            </a:pPr>
            <a:r>
              <a:rPr lang="en-US" sz="1100" dirty="0">
                <a:solidFill>
                  <a:srgbClr val="5C6370"/>
                </a:solidFill>
              </a:rPr>
              <a:t>microservices</a:t>
            </a:r>
            <a:endParaRPr lang="en-US" sz="1100" dirty="0"/>
          </a:p>
        </p:txBody>
      </p:sp>
      <p:sp>
        <p:nvSpPr>
          <p:cNvPr id="9" name="Text 7"/>
          <p:cNvSpPr/>
          <p:nvPr/>
        </p:nvSpPr>
        <p:spPr>
          <a:xfrm>
            <a:off x="2651760" y="1554480"/>
            <a:ext cx="2194560" cy="914400"/>
          </a:xfrm>
          <a:prstGeom prst="rect">
            <a:avLst/>
          </a:prstGeom>
          <a:noFill/>
          <a:ln/>
        </p:spPr>
        <p:txBody>
          <a:bodyPr wrap="square" lIns="0" tIns="0" rIns="0" bIns="0" rtlCol="0" anchor="ctr"/>
          <a:lstStyle/>
          <a:p>
            <a:pPr algn="ctr" indent="0" marL="0">
              <a:buNone/>
            </a:pPr>
            <a:r>
              <a:rPr lang="en-US" sz="6000" b="1" dirty="0">
                <a:solidFill>
                  <a:srgbClr val="C678DD"/>
                </a:solidFill>
                <a:latin typeface="Calibri" pitchFamily="34" charset="0"/>
                <a:ea typeface="Calibri" pitchFamily="34" charset="-122"/>
                <a:cs typeface="Calibri" pitchFamily="34" charset="-120"/>
              </a:rPr>
              <a:t>3</a:t>
            </a:r>
            <a:endParaRPr lang="en-US" sz="6000" dirty="0"/>
          </a:p>
        </p:txBody>
      </p:sp>
      <p:sp>
        <p:nvSpPr>
          <p:cNvPr id="10" name="Text 8"/>
          <p:cNvSpPr/>
          <p:nvPr/>
        </p:nvSpPr>
        <p:spPr>
          <a:xfrm>
            <a:off x="2651760" y="2423160"/>
            <a:ext cx="2194560" cy="274320"/>
          </a:xfrm>
          <a:prstGeom prst="rect">
            <a:avLst/>
          </a:prstGeom>
          <a:noFill/>
          <a:ln/>
        </p:spPr>
        <p:txBody>
          <a:bodyPr wrap="square" lIns="0" tIns="0" rIns="0" bIns="0" rtlCol="0" anchor="ctr"/>
          <a:lstStyle/>
          <a:p>
            <a:pPr algn="ctr" indent="0" marL="0">
              <a:buNone/>
            </a:pPr>
            <a:r>
              <a:rPr lang="en-US" sz="1100" dirty="0">
                <a:solidFill>
                  <a:srgbClr val="5C6370"/>
                </a:solidFill>
              </a:rPr>
              <a:t>databases</a:t>
            </a:r>
            <a:endParaRPr lang="en-US" sz="1100" dirty="0"/>
          </a:p>
        </p:txBody>
      </p:sp>
      <p:sp>
        <p:nvSpPr>
          <p:cNvPr id="11" name="Text 9"/>
          <p:cNvSpPr/>
          <p:nvPr/>
        </p:nvSpPr>
        <p:spPr>
          <a:xfrm>
            <a:off x="4937760" y="1554480"/>
            <a:ext cx="2194560" cy="914400"/>
          </a:xfrm>
          <a:prstGeom prst="rect">
            <a:avLst/>
          </a:prstGeom>
          <a:noFill/>
          <a:ln/>
        </p:spPr>
        <p:txBody>
          <a:bodyPr wrap="square" lIns="0" tIns="0" rIns="0" bIns="0" rtlCol="0" anchor="ctr"/>
          <a:lstStyle/>
          <a:p>
            <a:pPr algn="ctr" indent="0" marL="0">
              <a:buNone/>
            </a:pPr>
            <a:r>
              <a:rPr lang="en-US" sz="6000" b="1" dirty="0">
                <a:solidFill>
                  <a:srgbClr val="61AFEF"/>
                </a:solidFill>
                <a:latin typeface="Calibri" pitchFamily="34" charset="0"/>
                <a:ea typeface="Calibri" pitchFamily="34" charset="-122"/>
                <a:cs typeface="Calibri" pitchFamily="34" charset="-120"/>
              </a:rPr>
              <a:t>2</a:t>
            </a:r>
            <a:endParaRPr lang="en-US" sz="6000" dirty="0"/>
          </a:p>
        </p:txBody>
      </p:sp>
      <p:sp>
        <p:nvSpPr>
          <p:cNvPr id="12" name="Text 10"/>
          <p:cNvSpPr/>
          <p:nvPr/>
        </p:nvSpPr>
        <p:spPr>
          <a:xfrm>
            <a:off x="4937760" y="2423160"/>
            <a:ext cx="2194560" cy="274320"/>
          </a:xfrm>
          <a:prstGeom prst="rect">
            <a:avLst/>
          </a:prstGeom>
          <a:noFill/>
          <a:ln/>
        </p:spPr>
        <p:txBody>
          <a:bodyPr wrap="square" lIns="0" tIns="0" rIns="0" bIns="0" rtlCol="0" anchor="ctr"/>
          <a:lstStyle/>
          <a:p>
            <a:pPr algn="ctr" indent="0" marL="0">
              <a:buNone/>
            </a:pPr>
            <a:r>
              <a:rPr lang="en-US" sz="1100" dirty="0">
                <a:solidFill>
                  <a:srgbClr val="5C6370"/>
                </a:solidFill>
              </a:rPr>
              <a:t>roles</a:t>
            </a:r>
            <a:endParaRPr lang="en-US" sz="1100" dirty="0"/>
          </a:p>
        </p:txBody>
      </p:sp>
      <p:sp>
        <p:nvSpPr>
          <p:cNvPr id="13" name="Text 11"/>
          <p:cNvSpPr/>
          <p:nvPr/>
        </p:nvSpPr>
        <p:spPr>
          <a:xfrm>
            <a:off x="6949440" y="1554480"/>
            <a:ext cx="2194560" cy="914400"/>
          </a:xfrm>
          <a:prstGeom prst="rect">
            <a:avLst/>
          </a:prstGeom>
          <a:noFill/>
          <a:ln/>
        </p:spPr>
        <p:txBody>
          <a:bodyPr wrap="square" lIns="0" tIns="0" rIns="0" bIns="0" rtlCol="0" anchor="ctr"/>
          <a:lstStyle/>
          <a:p>
            <a:pPr algn="ctr" indent="0" marL="0">
              <a:buNone/>
            </a:pPr>
            <a:r>
              <a:rPr lang="en-US" sz="6000" b="1" dirty="0">
                <a:solidFill>
                  <a:srgbClr val="E5C07B"/>
                </a:solidFill>
                <a:latin typeface="Calibri" pitchFamily="34" charset="0"/>
                <a:ea typeface="Calibri" pitchFamily="34" charset="-122"/>
                <a:cs typeface="Calibri" pitchFamily="34" charset="-120"/>
              </a:rPr>
              <a:t>1h</a:t>
            </a:r>
            <a:endParaRPr lang="en-US" sz="6000" dirty="0"/>
          </a:p>
        </p:txBody>
      </p:sp>
      <p:sp>
        <p:nvSpPr>
          <p:cNvPr id="14" name="Text 12"/>
          <p:cNvSpPr/>
          <p:nvPr/>
        </p:nvSpPr>
        <p:spPr>
          <a:xfrm>
            <a:off x="6949440" y="2423160"/>
            <a:ext cx="2194560" cy="274320"/>
          </a:xfrm>
          <a:prstGeom prst="rect">
            <a:avLst/>
          </a:prstGeom>
          <a:noFill/>
          <a:ln/>
        </p:spPr>
        <p:txBody>
          <a:bodyPr wrap="square" lIns="0" tIns="0" rIns="0" bIns="0" rtlCol="0" anchor="ctr"/>
          <a:lstStyle/>
          <a:p>
            <a:pPr algn="ctr" indent="0" marL="0">
              <a:buNone/>
            </a:pPr>
            <a:r>
              <a:rPr lang="en-US" sz="1100" dirty="0">
                <a:solidFill>
                  <a:srgbClr val="5C6370"/>
                </a:solidFill>
              </a:rPr>
              <a:t>alert cycle</a:t>
            </a:r>
            <a:endParaRPr lang="en-US" sz="1100" dirty="0"/>
          </a:p>
        </p:txBody>
      </p:sp>
      <p:sp>
        <p:nvSpPr>
          <p:cNvPr id="15" name="Shape 13"/>
          <p:cNvSpPr/>
          <p:nvPr/>
        </p:nvSpPr>
        <p:spPr>
          <a:xfrm>
            <a:off x="548640" y="4315968"/>
            <a:ext cx="8046720" cy="54864"/>
          </a:xfrm>
          <a:prstGeom prst="rect">
            <a:avLst/>
          </a:prstGeom>
          <a:solidFill>
            <a:srgbClr val="3E4451"/>
          </a:solidFill>
          <a:ln w="12700">
            <a:solidFill>
              <a:srgbClr val="3E4451"/>
            </a:solidFill>
            <a:prstDash val="solid"/>
          </a:ln>
        </p:spPr>
      </p:sp>
      <p:sp>
        <p:nvSpPr>
          <p:cNvPr id="16" name="Text 14"/>
          <p:cNvSpPr/>
          <p:nvPr/>
        </p:nvSpPr>
        <p:spPr>
          <a:xfrm>
            <a:off x="548640" y="4370832"/>
            <a:ext cx="8046720" cy="329184"/>
          </a:xfrm>
          <a:prstGeom prst="rect">
            <a:avLst/>
          </a:prstGeom>
          <a:noFill/>
          <a:ln/>
        </p:spPr>
        <p:txBody>
          <a:bodyPr wrap="square" lIns="0" tIns="0" rIns="0" bIns="0" rtlCol="0" anchor="ctr"/>
          <a:lstStyle/>
          <a:p>
            <a:pPr algn="ctr" indent="0" marL="0">
              <a:buNone/>
            </a:pPr>
            <a:r>
              <a:rPr lang="en-US" sz="1200" dirty="0">
                <a:solidFill>
                  <a:srgbClr val="5C6370"/>
                </a:solidFill>
              </a:rPr>
              <a:t>Scheduled, monitored, and alerted — continuously, whether anyone is logged in or not.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82C34"/>
        </a:solidFill>
      </p:bgPr>
    </p:bg>
    <p:spTree>
      <p:nvGrpSpPr>
        <p:cNvPr id="1" name=""/>
        <p:cNvGrpSpPr/>
        <p:nvPr/>
      </p:nvGrpSpPr>
      <p:grpSpPr>
        <a:xfrm>
          <a:off x="0" y="0"/>
          <a:ext cx="0" cy="0"/>
          <a:chOff x="0" y="0"/>
          <a:chExt cx="0" cy="0"/>
        </a:xfrm>
      </p:grpSpPr>
      <p:sp>
        <p:nvSpPr>
          <p:cNvPr id="2" name="Text 0"/>
          <p:cNvSpPr/>
          <p:nvPr/>
        </p:nvSpPr>
        <p:spPr>
          <a:xfrm>
            <a:off x="548640" y="201168"/>
            <a:ext cx="8229600" cy="237744"/>
          </a:xfrm>
          <a:prstGeom prst="rect">
            <a:avLst/>
          </a:prstGeom>
          <a:noFill/>
          <a:ln/>
        </p:spPr>
        <p:txBody>
          <a:bodyPr wrap="square" lIns="0" tIns="0" rIns="0" bIns="0" rtlCol="0" anchor="ctr"/>
          <a:lstStyle/>
          <a:p>
            <a:pPr indent="0" marL="0">
              <a:buNone/>
            </a:pPr>
            <a:r>
              <a:rPr lang="en-US" sz="800" b="1" spc="300" kern="0" dirty="0">
                <a:solidFill>
                  <a:srgbClr val="56B6C2"/>
                </a:solidFill>
              </a:rPr>
              <a:t>ARCHITECTURE</a:t>
            </a:r>
            <a:endParaRPr lang="en-US" sz="800" dirty="0"/>
          </a:p>
        </p:txBody>
      </p:sp>
      <p:sp>
        <p:nvSpPr>
          <p:cNvPr id="3" name="Text 1"/>
          <p:cNvSpPr/>
          <p:nvPr/>
        </p:nvSpPr>
        <p:spPr>
          <a:xfrm>
            <a:off x="548640" y="502920"/>
            <a:ext cx="8046720" cy="685800"/>
          </a:xfrm>
          <a:prstGeom prst="rect">
            <a:avLst/>
          </a:prstGeom>
          <a:noFill/>
          <a:ln/>
        </p:spPr>
        <p:txBody>
          <a:bodyPr wrap="square" lIns="0" tIns="0" rIns="0" bIns="0" rtlCol="0" anchor="ctr"/>
          <a:lstStyle/>
          <a:p>
            <a:pPr indent="0" marL="0">
              <a:buNone/>
            </a:pPr>
            <a:r>
              <a:rPr lang="en-US" sz="3600" b="1" dirty="0">
                <a:solidFill>
                  <a:srgbClr val="DCDFE4"/>
                </a:solidFill>
                <a:latin typeface="Calibri" pitchFamily="34" charset="0"/>
                <a:ea typeface="Calibri" pitchFamily="34" charset="-122"/>
                <a:cs typeface="Calibri" pitchFamily="34" charset="-120"/>
              </a:rPr>
              <a:t>Microservices with an API gateway</a:t>
            </a:r>
            <a:endParaRPr lang="en-US" sz="3600" dirty="0"/>
          </a:p>
        </p:txBody>
      </p:sp>
      <p:sp>
        <p:nvSpPr>
          <p:cNvPr id="4" name="Shape 2"/>
          <p:cNvSpPr/>
          <p:nvPr/>
        </p:nvSpPr>
        <p:spPr>
          <a:xfrm>
            <a:off x="548640" y="4864608"/>
            <a:ext cx="8046720" cy="0"/>
          </a:xfrm>
          <a:prstGeom prst="line">
            <a:avLst/>
          </a:prstGeom>
          <a:noFill/>
          <a:ln w="5080">
            <a:solidFill>
              <a:srgbClr val="3E4451"/>
            </a:solidFill>
            <a:prstDash val="solid"/>
          </a:ln>
        </p:spPr>
      </p:sp>
      <p:sp>
        <p:nvSpPr>
          <p:cNvPr id="5" name="Text 3"/>
          <p:cNvSpPr/>
          <p:nvPr/>
        </p:nvSpPr>
        <p:spPr>
          <a:xfrm>
            <a:off x="548640" y="4901184"/>
            <a:ext cx="6400800" cy="182880"/>
          </a:xfrm>
          <a:prstGeom prst="rect">
            <a:avLst/>
          </a:prstGeom>
          <a:noFill/>
          <a:ln/>
        </p:spPr>
        <p:txBody>
          <a:bodyPr wrap="square" lIns="0" tIns="0" rIns="0" bIns="0" rtlCol="0" anchor="ctr"/>
          <a:lstStyle/>
          <a:p>
            <a:pPr indent="0" marL="0">
              <a:buNone/>
            </a:pPr>
            <a:r>
              <a:rPr lang="en-US" sz="750" dirty="0">
                <a:solidFill>
                  <a:srgbClr val="5C6370"/>
                </a:solidFill>
              </a:rPr>
              <a:t>Machine Maintenance Scheduler  ·  NTT Data Case Study</a:t>
            </a:r>
            <a:endParaRPr lang="en-US" sz="750" dirty="0"/>
          </a:p>
        </p:txBody>
      </p:sp>
      <p:sp>
        <p:nvSpPr>
          <p:cNvPr id="6" name="Text 4"/>
          <p:cNvSpPr/>
          <p:nvPr/>
        </p:nvSpPr>
        <p:spPr>
          <a:xfrm>
            <a:off x="6858000" y="4901184"/>
            <a:ext cx="1920240" cy="182880"/>
          </a:xfrm>
          <a:prstGeom prst="rect">
            <a:avLst/>
          </a:prstGeom>
          <a:noFill/>
          <a:ln/>
        </p:spPr>
        <p:txBody>
          <a:bodyPr wrap="square" lIns="0" tIns="0" rIns="0" bIns="0" rtlCol="0" anchor="ctr"/>
          <a:lstStyle/>
          <a:p>
            <a:pPr algn="r" indent="0" marL="0">
              <a:buNone/>
            </a:pPr>
            <a:r>
              <a:rPr lang="en-US" sz="750" dirty="0">
                <a:solidFill>
                  <a:srgbClr val="5C6370"/>
                </a:solidFill>
              </a:rPr>
              <a:t>Suraj Karthikeyan</a:t>
            </a:r>
            <a:endParaRPr lang="en-US" sz="750" dirty="0"/>
          </a:p>
        </p:txBody>
      </p:sp>
      <p:sp>
        <p:nvSpPr>
          <p:cNvPr id="7" name="Shape 5"/>
          <p:cNvSpPr/>
          <p:nvPr/>
        </p:nvSpPr>
        <p:spPr>
          <a:xfrm>
            <a:off x="3474720" y="1170432"/>
            <a:ext cx="2194560" cy="457200"/>
          </a:xfrm>
          <a:prstGeom prst="rect">
            <a:avLst/>
          </a:prstGeom>
          <a:solidFill>
            <a:srgbClr val="21252B"/>
          </a:solidFill>
          <a:ln w="12700">
            <a:solidFill>
              <a:srgbClr val="5C6370"/>
            </a:solidFill>
            <a:prstDash val="solid"/>
          </a:ln>
        </p:spPr>
      </p:sp>
      <p:sp>
        <p:nvSpPr>
          <p:cNvPr id="8" name="Text 6"/>
          <p:cNvSpPr/>
          <p:nvPr/>
        </p:nvSpPr>
        <p:spPr>
          <a:xfrm>
            <a:off x="3547872" y="1225296"/>
            <a:ext cx="2048256" cy="256032"/>
          </a:xfrm>
          <a:prstGeom prst="rect">
            <a:avLst/>
          </a:prstGeom>
          <a:noFill/>
          <a:ln/>
        </p:spPr>
        <p:txBody>
          <a:bodyPr wrap="square" lIns="0" tIns="0" rIns="0" bIns="0" rtlCol="0" anchor="ctr"/>
          <a:lstStyle/>
          <a:p>
            <a:pPr algn="ctr" indent="0" marL="0">
              <a:buNone/>
            </a:pPr>
            <a:r>
              <a:rPr lang="en-US" sz="1000" b="1" dirty="0">
                <a:solidFill>
                  <a:srgbClr val="5C6370"/>
                </a:solidFill>
              </a:rPr>
              <a:t>Browser / User</a:t>
            </a:r>
            <a:endParaRPr lang="en-US" sz="1000" dirty="0"/>
          </a:p>
        </p:txBody>
      </p:sp>
      <p:sp>
        <p:nvSpPr>
          <p:cNvPr id="9" name="Shape 7"/>
          <p:cNvSpPr/>
          <p:nvPr/>
        </p:nvSpPr>
        <p:spPr>
          <a:xfrm>
            <a:off x="4572000" y="1627632"/>
            <a:ext cx="0" cy="182880"/>
          </a:xfrm>
          <a:prstGeom prst="line">
            <a:avLst/>
          </a:prstGeom>
          <a:noFill/>
          <a:ln w="12700">
            <a:solidFill>
              <a:srgbClr val="3E4451"/>
            </a:solidFill>
            <a:prstDash val="solid"/>
            <a:tailEnd type="open"/>
          </a:ln>
        </p:spPr>
      </p:sp>
      <p:sp>
        <p:nvSpPr>
          <p:cNvPr id="10" name="Shape 8"/>
          <p:cNvSpPr/>
          <p:nvPr/>
        </p:nvSpPr>
        <p:spPr>
          <a:xfrm>
            <a:off x="2834640" y="1810512"/>
            <a:ext cx="3474720" cy="475488"/>
          </a:xfrm>
          <a:prstGeom prst="rect">
            <a:avLst/>
          </a:prstGeom>
          <a:solidFill>
            <a:srgbClr val="21252B"/>
          </a:solidFill>
          <a:ln w="12700">
            <a:solidFill>
              <a:srgbClr val="56B6C2"/>
            </a:solidFill>
            <a:prstDash val="solid"/>
          </a:ln>
        </p:spPr>
      </p:sp>
      <p:sp>
        <p:nvSpPr>
          <p:cNvPr id="11" name="Text 9"/>
          <p:cNvSpPr/>
          <p:nvPr/>
        </p:nvSpPr>
        <p:spPr>
          <a:xfrm>
            <a:off x="2907792" y="1865376"/>
            <a:ext cx="3328416" cy="256032"/>
          </a:xfrm>
          <a:prstGeom prst="rect">
            <a:avLst/>
          </a:prstGeom>
          <a:noFill/>
          <a:ln/>
        </p:spPr>
        <p:txBody>
          <a:bodyPr wrap="square" lIns="0" tIns="0" rIns="0" bIns="0" rtlCol="0" anchor="ctr"/>
          <a:lstStyle/>
          <a:p>
            <a:pPr algn="ctr" indent="0" marL="0">
              <a:buNone/>
            </a:pPr>
            <a:r>
              <a:rPr lang="en-US" sz="1000" b="1" dirty="0">
                <a:solidFill>
                  <a:srgbClr val="56B6C2"/>
                </a:solidFill>
              </a:rPr>
              <a:t>React Frontend</a:t>
            </a:r>
            <a:endParaRPr lang="en-US" sz="1000" dirty="0"/>
          </a:p>
        </p:txBody>
      </p:sp>
      <p:sp>
        <p:nvSpPr>
          <p:cNvPr id="12" name="Text 10"/>
          <p:cNvSpPr/>
          <p:nvPr/>
        </p:nvSpPr>
        <p:spPr>
          <a:xfrm>
            <a:off x="2907792" y="2130552"/>
            <a:ext cx="3328416" cy="182880"/>
          </a:xfrm>
          <a:prstGeom prst="rect">
            <a:avLst/>
          </a:prstGeom>
          <a:noFill/>
          <a:ln/>
        </p:spPr>
        <p:txBody>
          <a:bodyPr wrap="square" lIns="0" tIns="0" rIns="0" bIns="0" rtlCol="0" anchor="ctr"/>
          <a:lstStyle/>
          <a:p>
            <a:pPr algn="ctr" indent="0" marL="0">
              <a:buNone/>
            </a:pPr>
            <a:r>
              <a:rPr lang="en-US" sz="750" dirty="0">
                <a:solidFill>
                  <a:srgbClr val="5C6370"/>
                </a:solidFill>
              </a:rPr>
              <a:t>Vite · Tailwind · React Query</a:t>
            </a:r>
            <a:endParaRPr lang="en-US" sz="750" dirty="0"/>
          </a:p>
        </p:txBody>
      </p:sp>
      <p:sp>
        <p:nvSpPr>
          <p:cNvPr id="13" name="Shape 11"/>
          <p:cNvSpPr/>
          <p:nvPr/>
        </p:nvSpPr>
        <p:spPr>
          <a:xfrm>
            <a:off x="4572000" y="2286000"/>
            <a:ext cx="0" cy="201168"/>
          </a:xfrm>
          <a:prstGeom prst="line">
            <a:avLst/>
          </a:prstGeom>
          <a:noFill/>
          <a:ln w="12700">
            <a:solidFill>
              <a:srgbClr val="3E4451"/>
            </a:solidFill>
            <a:prstDash val="solid"/>
            <a:tailEnd type="open"/>
          </a:ln>
        </p:spPr>
      </p:sp>
      <p:sp>
        <p:nvSpPr>
          <p:cNvPr id="14" name="Shape 12"/>
          <p:cNvSpPr/>
          <p:nvPr/>
        </p:nvSpPr>
        <p:spPr>
          <a:xfrm>
            <a:off x="2834640" y="2487168"/>
            <a:ext cx="3474720" cy="502920"/>
          </a:xfrm>
          <a:prstGeom prst="rect">
            <a:avLst/>
          </a:prstGeom>
          <a:solidFill>
            <a:srgbClr val="21252B"/>
          </a:solidFill>
          <a:ln w="12700">
            <a:solidFill>
              <a:srgbClr val="C678DD"/>
            </a:solidFill>
            <a:prstDash val="solid"/>
          </a:ln>
        </p:spPr>
      </p:sp>
      <p:sp>
        <p:nvSpPr>
          <p:cNvPr id="15" name="Text 13"/>
          <p:cNvSpPr/>
          <p:nvPr/>
        </p:nvSpPr>
        <p:spPr>
          <a:xfrm>
            <a:off x="2907792" y="2542032"/>
            <a:ext cx="3328416" cy="256032"/>
          </a:xfrm>
          <a:prstGeom prst="rect">
            <a:avLst/>
          </a:prstGeom>
          <a:noFill/>
          <a:ln/>
        </p:spPr>
        <p:txBody>
          <a:bodyPr wrap="square" lIns="0" tIns="0" rIns="0" bIns="0" rtlCol="0" anchor="ctr"/>
          <a:lstStyle/>
          <a:p>
            <a:pPr algn="ctr" indent="0" marL="0">
              <a:buNone/>
            </a:pPr>
            <a:r>
              <a:rPr lang="en-US" sz="1000" b="1" dirty="0">
                <a:solidFill>
                  <a:srgbClr val="C678DD"/>
                </a:solidFill>
              </a:rPr>
              <a:t>API Gateway</a:t>
            </a:r>
            <a:endParaRPr lang="en-US" sz="1000" dirty="0"/>
          </a:p>
        </p:txBody>
      </p:sp>
      <p:sp>
        <p:nvSpPr>
          <p:cNvPr id="16" name="Text 14"/>
          <p:cNvSpPr/>
          <p:nvPr/>
        </p:nvSpPr>
        <p:spPr>
          <a:xfrm>
            <a:off x="2907792" y="2807208"/>
            <a:ext cx="3328416" cy="182880"/>
          </a:xfrm>
          <a:prstGeom prst="rect">
            <a:avLst/>
          </a:prstGeom>
          <a:noFill/>
          <a:ln/>
        </p:spPr>
        <p:txBody>
          <a:bodyPr wrap="square" lIns="0" tIns="0" rIns="0" bIns="0" rtlCol="0" anchor="ctr"/>
          <a:lstStyle/>
          <a:p>
            <a:pPr algn="ctr" indent="0" marL="0">
              <a:buNone/>
            </a:pPr>
            <a:r>
              <a:rPr lang="en-US" sz="750" dirty="0">
                <a:solidFill>
                  <a:srgbClr val="5C6370"/>
                </a:solidFill>
              </a:rPr>
              <a:t>express-http-proxy · CORS · JWT</a:t>
            </a:r>
            <a:endParaRPr lang="en-US" sz="750" dirty="0"/>
          </a:p>
        </p:txBody>
      </p:sp>
      <p:sp>
        <p:nvSpPr>
          <p:cNvPr id="17" name="Shape 15"/>
          <p:cNvSpPr/>
          <p:nvPr/>
        </p:nvSpPr>
        <p:spPr>
          <a:xfrm>
            <a:off x="3291840" y="2990088"/>
            <a:ext cx="-1417320" cy="256032"/>
          </a:xfrm>
          <a:prstGeom prst="line">
            <a:avLst/>
          </a:prstGeom>
          <a:noFill/>
          <a:ln w="12700">
            <a:solidFill>
              <a:srgbClr val="3E4451"/>
            </a:solidFill>
            <a:prstDash val="solid"/>
            <a:tailEnd type="open"/>
          </a:ln>
        </p:spPr>
      </p:sp>
      <p:sp>
        <p:nvSpPr>
          <p:cNvPr id="18" name="Shape 16"/>
          <p:cNvSpPr/>
          <p:nvPr/>
        </p:nvSpPr>
        <p:spPr>
          <a:xfrm>
            <a:off x="4572000" y="2990088"/>
            <a:ext cx="0" cy="256032"/>
          </a:xfrm>
          <a:prstGeom prst="line">
            <a:avLst/>
          </a:prstGeom>
          <a:noFill/>
          <a:ln w="12700">
            <a:solidFill>
              <a:srgbClr val="3E4451"/>
            </a:solidFill>
            <a:prstDash val="solid"/>
            <a:tailEnd type="open"/>
          </a:ln>
        </p:spPr>
      </p:sp>
      <p:sp>
        <p:nvSpPr>
          <p:cNvPr id="19" name="Shape 17"/>
          <p:cNvSpPr/>
          <p:nvPr/>
        </p:nvSpPr>
        <p:spPr>
          <a:xfrm>
            <a:off x="5852160" y="2990088"/>
            <a:ext cx="1417320" cy="256032"/>
          </a:xfrm>
          <a:prstGeom prst="line">
            <a:avLst/>
          </a:prstGeom>
          <a:noFill/>
          <a:ln w="12700">
            <a:solidFill>
              <a:srgbClr val="3E4451"/>
            </a:solidFill>
            <a:prstDash val="solid"/>
            <a:tailEnd type="open"/>
          </a:ln>
        </p:spPr>
      </p:sp>
      <p:sp>
        <p:nvSpPr>
          <p:cNvPr id="20" name="Shape 18"/>
          <p:cNvSpPr/>
          <p:nvPr/>
        </p:nvSpPr>
        <p:spPr>
          <a:xfrm>
            <a:off x="256032" y="3246120"/>
            <a:ext cx="2423160" cy="475488"/>
          </a:xfrm>
          <a:prstGeom prst="rect">
            <a:avLst/>
          </a:prstGeom>
          <a:solidFill>
            <a:srgbClr val="21252B"/>
          </a:solidFill>
          <a:ln w="12700">
            <a:solidFill>
              <a:srgbClr val="61AFEF"/>
            </a:solidFill>
            <a:prstDash val="solid"/>
          </a:ln>
        </p:spPr>
      </p:sp>
      <p:sp>
        <p:nvSpPr>
          <p:cNvPr id="21" name="Text 19"/>
          <p:cNvSpPr/>
          <p:nvPr/>
        </p:nvSpPr>
        <p:spPr>
          <a:xfrm>
            <a:off x="329184" y="3300984"/>
            <a:ext cx="2276856" cy="256032"/>
          </a:xfrm>
          <a:prstGeom prst="rect">
            <a:avLst/>
          </a:prstGeom>
          <a:noFill/>
          <a:ln/>
        </p:spPr>
        <p:txBody>
          <a:bodyPr wrap="square" lIns="0" tIns="0" rIns="0" bIns="0" rtlCol="0" anchor="ctr"/>
          <a:lstStyle/>
          <a:p>
            <a:pPr algn="ctr" indent="0" marL="0">
              <a:buNone/>
            </a:pPr>
            <a:r>
              <a:rPr lang="en-US" sz="1000" b="1" dirty="0">
                <a:solidFill>
                  <a:srgbClr val="61AFEF"/>
                </a:solidFill>
              </a:rPr>
              <a:t>Machine Service</a:t>
            </a:r>
            <a:endParaRPr lang="en-US" sz="1000" dirty="0"/>
          </a:p>
        </p:txBody>
      </p:sp>
      <p:sp>
        <p:nvSpPr>
          <p:cNvPr id="22" name="Text 20"/>
          <p:cNvSpPr/>
          <p:nvPr/>
        </p:nvSpPr>
        <p:spPr>
          <a:xfrm>
            <a:off x="329184" y="3566160"/>
            <a:ext cx="2276856" cy="182880"/>
          </a:xfrm>
          <a:prstGeom prst="rect">
            <a:avLst/>
          </a:prstGeom>
          <a:noFill/>
          <a:ln/>
        </p:spPr>
        <p:txBody>
          <a:bodyPr wrap="square" lIns="0" tIns="0" rIns="0" bIns="0" rtlCol="0" anchor="ctr"/>
          <a:lstStyle/>
          <a:p>
            <a:pPr algn="ctr" indent="0" marL="0">
              <a:buNone/>
            </a:pPr>
            <a:r>
              <a:rPr lang="en-US" sz="750" dirty="0">
                <a:solidFill>
                  <a:srgbClr val="5C6370"/>
                </a:solidFill>
              </a:rPr>
              <a:t>machines · auth · users</a:t>
            </a:r>
            <a:endParaRPr lang="en-US" sz="750" dirty="0"/>
          </a:p>
        </p:txBody>
      </p:sp>
      <p:sp>
        <p:nvSpPr>
          <p:cNvPr id="23" name="Shape 21"/>
          <p:cNvSpPr/>
          <p:nvPr/>
        </p:nvSpPr>
        <p:spPr>
          <a:xfrm>
            <a:off x="3364992" y="3246120"/>
            <a:ext cx="2423160" cy="475488"/>
          </a:xfrm>
          <a:prstGeom prst="rect">
            <a:avLst/>
          </a:prstGeom>
          <a:solidFill>
            <a:srgbClr val="21252B"/>
          </a:solidFill>
          <a:ln w="12700">
            <a:solidFill>
              <a:srgbClr val="61AFEF"/>
            </a:solidFill>
            <a:prstDash val="solid"/>
          </a:ln>
        </p:spPr>
      </p:sp>
      <p:sp>
        <p:nvSpPr>
          <p:cNvPr id="24" name="Text 22"/>
          <p:cNvSpPr/>
          <p:nvPr/>
        </p:nvSpPr>
        <p:spPr>
          <a:xfrm>
            <a:off x="3438144" y="3300984"/>
            <a:ext cx="2276856" cy="256032"/>
          </a:xfrm>
          <a:prstGeom prst="rect">
            <a:avLst/>
          </a:prstGeom>
          <a:noFill/>
          <a:ln/>
        </p:spPr>
        <p:txBody>
          <a:bodyPr wrap="square" lIns="0" tIns="0" rIns="0" bIns="0" rtlCol="0" anchor="ctr"/>
          <a:lstStyle/>
          <a:p>
            <a:pPr algn="ctr" indent="0" marL="0">
              <a:buNone/>
            </a:pPr>
            <a:r>
              <a:rPr lang="en-US" sz="1000" b="1" dirty="0">
                <a:solidFill>
                  <a:srgbClr val="61AFEF"/>
                </a:solidFill>
              </a:rPr>
              <a:t>Scheduler Service</a:t>
            </a:r>
            <a:endParaRPr lang="en-US" sz="1000" dirty="0"/>
          </a:p>
        </p:txBody>
      </p:sp>
      <p:sp>
        <p:nvSpPr>
          <p:cNvPr id="25" name="Text 23"/>
          <p:cNvSpPr/>
          <p:nvPr/>
        </p:nvSpPr>
        <p:spPr>
          <a:xfrm>
            <a:off x="3438144" y="3566160"/>
            <a:ext cx="2276856" cy="182880"/>
          </a:xfrm>
          <a:prstGeom prst="rect">
            <a:avLst/>
          </a:prstGeom>
          <a:noFill/>
          <a:ln/>
        </p:spPr>
        <p:txBody>
          <a:bodyPr wrap="square" lIns="0" tIns="0" rIns="0" bIns="0" rtlCol="0" anchor="ctr"/>
          <a:lstStyle/>
          <a:p>
            <a:pPr algn="ctr" indent="0" marL="0">
              <a:buNone/>
            </a:pPr>
            <a:r>
              <a:rPr lang="en-US" sz="750" dirty="0">
                <a:solidFill>
                  <a:srgbClr val="5C6370"/>
                </a:solidFill>
              </a:rPr>
              <a:t>tasks · status sync</a:t>
            </a:r>
            <a:endParaRPr lang="en-US" sz="750" dirty="0"/>
          </a:p>
        </p:txBody>
      </p:sp>
      <p:sp>
        <p:nvSpPr>
          <p:cNvPr id="26" name="Shape 24"/>
          <p:cNvSpPr/>
          <p:nvPr/>
        </p:nvSpPr>
        <p:spPr>
          <a:xfrm>
            <a:off x="6464808" y="3246120"/>
            <a:ext cx="2423160" cy="475488"/>
          </a:xfrm>
          <a:prstGeom prst="rect">
            <a:avLst/>
          </a:prstGeom>
          <a:solidFill>
            <a:srgbClr val="21252B"/>
          </a:solidFill>
          <a:ln w="12700">
            <a:solidFill>
              <a:srgbClr val="61AFEF"/>
            </a:solidFill>
            <a:prstDash val="solid"/>
          </a:ln>
        </p:spPr>
      </p:sp>
      <p:sp>
        <p:nvSpPr>
          <p:cNvPr id="27" name="Text 25"/>
          <p:cNvSpPr/>
          <p:nvPr/>
        </p:nvSpPr>
        <p:spPr>
          <a:xfrm>
            <a:off x="6537960" y="3300984"/>
            <a:ext cx="2276856" cy="256032"/>
          </a:xfrm>
          <a:prstGeom prst="rect">
            <a:avLst/>
          </a:prstGeom>
          <a:noFill/>
          <a:ln/>
        </p:spPr>
        <p:txBody>
          <a:bodyPr wrap="square" lIns="0" tIns="0" rIns="0" bIns="0" rtlCol="0" anchor="ctr"/>
          <a:lstStyle/>
          <a:p>
            <a:pPr algn="ctr" indent="0" marL="0">
              <a:buNone/>
            </a:pPr>
            <a:r>
              <a:rPr lang="en-US" sz="1000" b="1" dirty="0">
                <a:solidFill>
                  <a:srgbClr val="61AFEF"/>
                </a:solidFill>
              </a:rPr>
              <a:t>Alert Service</a:t>
            </a:r>
            <a:endParaRPr lang="en-US" sz="1000" dirty="0"/>
          </a:p>
        </p:txBody>
      </p:sp>
      <p:sp>
        <p:nvSpPr>
          <p:cNvPr id="28" name="Text 26"/>
          <p:cNvSpPr/>
          <p:nvPr/>
        </p:nvSpPr>
        <p:spPr>
          <a:xfrm>
            <a:off x="6537960" y="3566160"/>
            <a:ext cx="2276856" cy="182880"/>
          </a:xfrm>
          <a:prstGeom prst="rect">
            <a:avLst/>
          </a:prstGeom>
          <a:noFill/>
          <a:ln/>
        </p:spPr>
        <p:txBody>
          <a:bodyPr wrap="square" lIns="0" tIns="0" rIns="0" bIns="0" rtlCol="0" anchor="ctr"/>
          <a:lstStyle/>
          <a:p>
            <a:pPr algn="ctr" indent="0" marL="0">
              <a:buNone/>
            </a:pPr>
            <a:r>
              <a:rPr lang="en-US" sz="750" dirty="0">
                <a:solidFill>
                  <a:srgbClr val="5C6370"/>
                </a:solidFill>
              </a:rPr>
              <a:t>cron · overdue</a:t>
            </a:r>
            <a:endParaRPr lang="en-US" sz="750" dirty="0"/>
          </a:p>
        </p:txBody>
      </p:sp>
      <p:sp>
        <p:nvSpPr>
          <p:cNvPr id="29" name="Shape 27"/>
          <p:cNvSpPr/>
          <p:nvPr/>
        </p:nvSpPr>
        <p:spPr>
          <a:xfrm>
            <a:off x="2679192" y="3438144"/>
            <a:ext cx="685800" cy="0"/>
          </a:xfrm>
          <a:prstGeom prst="line">
            <a:avLst/>
          </a:prstGeom>
          <a:noFill/>
          <a:ln w="9525">
            <a:solidFill>
              <a:srgbClr val="5C6370"/>
            </a:solidFill>
            <a:prstDash val="dash"/>
            <a:tailEnd type="open"/>
          </a:ln>
        </p:spPr>
      </p:sp>
      <p:sp>
        <p:nvSpPr>
          <p:cNvPr id="30" name="Shape 28"/>
          <p:cNvSpPr/>
          <p:nvPr/>
        </p:nvSpPr>
        <p:spPr>
          <a:xfrm>
            <a:off x="6464808" y="3493008"/>
            <a:ext cx="-3401568" cy="0"/>
          </a:xfrm>
          <a:prstGeom prst="line">
            <a:avLst/>
          </a:prstGeom>
          <a:noFill/>
          <a:ln w="9525">
            <a:solidFill>
              <a:srgbClr val="5C6370"/>
            </a:solidFill>
            <a:prstDash val="dash"/>
            <a:tailEnd type="open"/>
          </a:ln>
        </p:spPr>
      </p:sp>
      <p:sp>
        <p:nvSpPr>
          <p:cNvPr id="31" name="Shape 29"/>
          <p:cNvSpPr/>
          <p:nvPr/>
        </p:nvSpPr>
        <p:spPr>
          <a:xfrm>
            <a:off x="256032" y="3822192"/>
            <a:ext cx="2423160" cy="420624"/>
          </a:xfrm>
          <a:prstGeom prst="rect">
            <a:avLst/>
          </a:prstGeom>
          <a:solidFill>
            <a:srgbClr val="21252B"/>
          </a:solidFill>
          <a:ln w="12700">
            <a:solidFill>
              <a:srgbClr val="E5C07B"/>
            </a:solidFill>
            <a:prstDash val="solid"/>
          </a:ln>
        </p:spPr>
      </p:sp>
      <p:sp>
        <p:nvSpPr>
          <p:cNvPr id="32" name="Text 30"/>
          <p:cNvSpPr/>
          <p:nvPr/>
        </p:nvSpPr>
        <p:spPr>
          <a:xfrm>
            <a:off x="329184" y="3877056"/>
            <a:ext cx="2276856" cy="256032"/>
          </a:xfrm>
          <a:prstGeom prst="rect">
            <a:avLst/>
          </a:prstGeom>
          <a:noFill/>
          <a:ln/>
        </p:spPr>
        <p:txBody>
          <a:bodyPr wrap="square" lIns="0" tIns="0" rIns="0" bIns="0" rtlCol="0" anchor="ctr"/>
          <a:lstStyle/>
          <a:p>
            <a:pPr algn="ctr" indent="0" marL="0">
              <a:buNone/>
            </a:pPr>
            <a:r>
              <a:rPr lang="en-US" sz="1000" b="1" dirty="0">
                <a:solidFill>
                  <a:srgbClr val="E5C07B"/>
                </a:solidFill>
              </a:rPr>
              <a:t>machines_db</a:t>
            </a:r>
            <a:endParaRPr lang="en-US" sz="1000" dirty="0"/>
          </a:p>
        </p:txBody>
      </p:sp>
      <p:sp>
        <p:nvSpPr>
          <p:cNvPr id="33" name="Shape 31"/>
          <p:cNvSpPr/>
          <p:nvPr/>
        </p:nvSpPr>
        <p:spPr>
          <a:xfrm>
            <a:off x="3364992" y="3822192"/>
            <a:ext cx="2423160" cy="420624"/>
          </a:xfrm>
          <a:prstGeom prst="rect">
            <a:avLst/>
          </a:prstGeom>
          <a:solidFill>
            <a:srgbClr val="21252B"/>
          </a:solidFill>
          <a:ln w="12700">
            <a:solidFill>
              <a:srgbClr val="E5C07B"/>
            </a:solidFill>
            <a:prstDash val="solid"/>
          </a:ln>
        </p:spPr>
      </p:sp>
      <p:sp>
        <p:nvSpPr>
          <p:cNvPr id="34" name="Text 32"/>
          <p:cNvSpPr/>
          <p:nvPr/>
        </p:nvSpPr>
        <p:spPr>
          <a:xfrm>
            <a:off x="3438144" y="3877056"/>
            <a:ext cx="2276856" cy="256032"/>
          </a:xfrm>
          <a:prstGeom prst="rect">
            <a:avLst/>
          </a:prstGeom>
          <a:noFill/>
          <a:ln/>
        </p:spPr>
        <p:txBody>
          <a:bodyPr wrap="square" lIns="0" tIns="0" rIns="0" bIns="0" rtlCol="0" anchor="ctr"/>
          <a:lstStyle/>
          <a:p>
            <a:pPr algn="ctr" indent="0" marL="0">
              <a:buNone/>
            </a:pPr>
            <a:r>
              <a:rPr lang="en-US" sz="1000" b="1" dirty="0">
                <a:solidFill>
                  <a:srgbClr val="E5C07B"/>
                </a:solidFill>
              </a:rPr>
              <a:t>tasks_db</a:t>
            </a:r>
            <a:endParaRPr lang="en-US" sz="1000" dirty="0"/>
          </a:p>
        </p:txBody>
      </p:sp>
      <p:sp>
        <p:nvSpPr>
          <p:cNvPr id="35" name="Shape 33"/>
          <p:cNvSpPr/>
          <p:nvPr/>
        </p:nvSpPr>
        <p:spPr>
          <a:xfrm>
            <a:off x="6464808" y="3822192"/>
            <a:ext cx="2423160" cy="420624"/>
          </a:xfrm>
          <a:prstGeom prst="rect">
            <a:avLst/>
          </a:prstGeom>
          <a:solidFill>
            <a:srgbClr val="21252B"/>
          </a:solidFill>
          <a:ln w="12700">
            <a:solidFill>
              <a:srgbClr val="E5C07B"/>
            </a:solidFill>
            <a:prstDash val="solid"/>
          </a:ln>
        </p:spPr>
      </p:sp>
      <p:sp>
        <p:nvSpPr>
          <p:cNvPr id="36" name="Text 34"/>
          <p:cNvSpPr/>
          <p:nvPr/>
        </p:nvSpPr>
        <p:spPr>
          <a:xfrm>
            <a:off x="6537960" y="3877056"/>
            <a:ext cx="2276856" cy="256032"/>
          </a:xfrm>
          <a:prstGeom prst="rect">
            <a:avLst/>
          </a:prstGeom>
          <a:noFill/>
          <a:ln/>
        </p:spPr>
        <p:txBody>
          <a:bodyPr wrap="square" lIns="0" tIns="0" rIns="0" bIns="0" rtlCol="0" anchor="ctr"/>
          <a:lstStyle/>
          <a:p>
            <a:pPr algn="ctr" indent="0" marL="0">
              <a:buNone/>
            </a:pPr>
            <a:r>
              <a:rPr lang="en-US" sz="1000" b="1" dirty="0">
                <a:solidFill>
                  <a:srgbClr val="E5C07B"/>
                </a:solidFill>
              </a:rPr>
              <a:t>alerts_db</a:t>
            </a:r>
            <a:endParaRPr lang="en-US" sz="1000" dirty="0"/>
          </a:p>
        </p:txBody>
      </p:sp>
      <p:sp>
        <p:nvSpPr>
          <p:cNvPr id="37" name="Shape 35"/>
          <p:cNvSpPr/>
          <p:nvPr/>
        </p:nvSpPr>
        <p:spPr>
          <a:xfrm>
            <a:off x="1472184" y="3721608"/>
            <a:ext cx="0" cy="100584"/>
          </a:xfrm>
          <a:prstGeom prst="line">
            <a:avLst/>
          </a:prstGeom>
          <a:noFill/>
          <a:ln w="12700">
            <a:solidFill>
              <a:srgbClr val="3E4451"/>
            </a:solidFill>
            <a:prstDash val="solid"/>
            <a:tailEnd type="open"/>
          </a:ln>
        </p:spPr>
      </p:sp>
      <p:sp>
        <p:nvSpPr>
          <p:cNvPr id="38" name="Shape 36"/>
          <p:cNvSpPr/>
          <p:nvPr/>
        </p:nvSpPr>
        <p:spPr>
          <a:xfrm>
            <a:off x="4572000" y="3721608"/>
            <a:ext cx="0" cy="100584"/>
          </a:xfrm>
          <a:prstGeom prst="line">
            <a:avLst/>
          </a:prstGeom>
          <a:noFill/>
          <a:ln w="12700">
            <a:solidFill>
              <a:srgbClr val="3E4451"/>
            </a:solidFill>
            <a:prstDash val="solid"/>
            <a:tailEnd type="open"/>
          </a:ln>
        </p:spPr>
      </p:sp>
      <p:sp>
        <p:nvSpPr>
          <p:cNvPr id="39" name="Shape 37"/>
          <p:cNvSpPr/>
          <p:nvPr/>
        </p:nvSpPr>
        <p:spPr>
          <a:xfrm>
            <a:off x="7671816" y="3721608"/>
            <a:ext cx="0" cy="100584"/>
          </a:xfrm>
          <a:prstGeom prst="line">
            <a:avLst/>
          </a:prstGeom>
          <a:noFill/>
          <a:ln w="12700">
            <a:solidFill>
              <a:srgbClr val="3E4451"/>
            </a:solidFill>
            <a:prstDash val="solid"/>
            <a:tailEnd type="open"/>
          </a:ln>
        </p:spPr>
      </p:sp>
      <p:sp>
        <p:nvSpPr>
          <p:cNvPr id="40" name="Shape 38"/>
          <p:cNvSpPr/>
          <p:nvPr/>
        </p:nvSpPr>
        <p:spPr>
          <a:xfrm>
            <a:off x="146304" y="3154680"/>
            <a:ext cx="8851392" cy="1133856"/>
          </a:xfrm>
          <a:prstGeom prst="rect">
            <a:avLst/>
          </a:prstGeom>
          <a:solidFill>
            <a:srgbClr val="000000">
              <a:alpha val="0"/>
            </a:srgbClr>
          </a:solidFill>
          <a:ln w="9525">
            <a:solidFill>
              <a:srgbClr val="3E4451"/>
            </a:solidFill>
            <a:prstDash val="sysDash"/>
          </a:ln>
        </p:spPr>
      </p:sp>
      <p:sp>
        <p:nvSpPr>
          <p:cNvPr id="41" name="Text 39"/>
          <p:cNvSpPr/>
          <p:nvPr/>
        </p:nvSpPr>
        <p:spPr>
          <a:xfrm>
            <a:off x="201168" y="3182112"/>
            <a:ext cx="1828800" cy="164592"/>
          </a:xfrm>
          <a:prstGeom prst="rect">
            <a:avLst/>
          </a:prstGeom>
          <a:noFill/>
          <a:ln/>
        </p:spPr>
        <p:txBody>
          <a:bodyPr wrap="square" lIns="0" tIns="0" rIns="0" bIns="0" rtlCol="0" anchor="ctr"/>
          <a:lstStyle/>
          <a:p>
            <a:pPr indent="0" marL="0">
              <a:buNone/>
            </a:pPr>
            <a:r>
              <a:rPr lang="en-US" sz="700" dirty="0">
                <a:solidFill>
                  <a:srgbClr val="5C6370"/>
                </a:solidFill>
              </a:rPr>
              <a:t>Docker / Railway</a:t>
            </a:r>
            <a:endParaRPr lang="en-US" sz="700" dirty="0"/>
          </a:p>
        </p:txBody>
      </p:sp>
      <p:sp>
        <p:nvSpPr>
          <p:cNvPr id="42" name="Shape 40"/>
          <p:cNvSpPr/>
          <p:nvPr/>
        </p:nvSpPr>
        <p:spPr>
          <a:xfrm>
            <a:off x="365760" y="4434840"/>
            <a:ext cx="128016" cy="128016"/>
          </a:xfrm>
          <a:prstGeom prst="rect">
            <a:avLst/>
          </a:prstGeom>
          <a:solidFill>
            <a:srgbClr val="56B6C2"/>
          </a:solidFill>
          <a:ln w="12700">
            <a:solidFill>
              <a:srgbClr val="56B6C2"/>
            </a:solidFill>
            <a:prstDash val="solid"/>
          </a:ln>
        </p:spPr>
      </p:sp>
      <p:sp>
        <p:nvSpPr>
          <p:cNvPr id="43" name="Text 41"/>
          <p:cNvSpPr/>
          <p:nvPr/>
        </p:nvSpPr>
        <p:spPr>
          <a:xfrm>
            <a:off x="548640" y="4425696"/>
            <a:ext cx="1097280" cy="164592"/>
          </a:xfrm>
          <a:prstGeom prst="rect">
            <a:avLst/>
          </a:prstGeom>
          <a:noFill/>
          <a:ln/>
        </p:spPr>
        <p:txBody>
          <a:bodyPr wrap="square" lIns="0" tIns="0" rIns="0" bIns="0" rtlCol="0" anchor="ctr"/>
          <a:lstStyle/>
          <a:p>
            <a:pPr indent="0" marL="0">
              <a:buNone/>
            </a:pPr>
            <a:r>
              <a:rPr lang="en-US" sz="800" dirty="0">
                <a:solidFill>
                  <a:srgbClr val="5C6370"/>
                </a:solidFill>
              </a:rPr>
              <a:t>Frontend</a:t>
            </a:r>
            <a:endParaRPr lang="en-US" sz="800" dirty="0"/>
          </a:p>
        </p:txBody>
      </p:sp>
      <p:sp>
        <p:nvSpPr>
          <p:cNvPr id="44" name="Shape 42"/>
          <p:cNvSpPr/>
          <p:nvPr/>
        </p:nvSpPr>
        <p:spPr>
          <a:xfrm>
            <a:off x="1874520" y="4434840"/>
            <a:ext cx="128016" cy="128016"/>
          </a:xfrm>
          <a:prstGeom prst="rect">
            <a:avLst/>
          </a:prstGeom>
          <a:solidFill>
            <a:srgbClr val="C678DD"/>
          </a:solidFill>
          <a:ln w="12700">
            <a:solidFill>
              <a:srgbClr val="C678DD"/>
            </a:solidFill>
            <a:prstDash val="solid"/>
          </a:ln>
        </p:spPr>
      </p:sp>
      <p:sp>
        <p:nvSpPr>
          <p:cNvPr id="45" name="Text 43"/>
          <p:cNvSpPr/>
          <p:nvPr/>
        </p:nvSpPr>
        <p:spPr>
          <a:xfrm>
            <a:off x="2057400" y="4425696"/>
            <a:ext cx="1097280" cy="164592"/>
          </a:xfrm>
          <a:prstGeom prst="rect">
            <a:avLst/>
          </a:prstGeom>
          <a:noFill/>
          <a:ln/>
        </p:spPr>
        <p:txBody>
          <a:bodyPr wrap="square" lIns="0" tIns="0" rIns="0" bIns="0" rtlCol="0" anchor="ctr"/>
          <a:lstStyle/>
          <a:p>
            <a:pPr indent="0" marL="0">
              <a:buNone/>
            </a:pPr>
            <a:r>
              <a:rPr lang="en-US" sz="800" dirty="0">
                <a:solidFill>
                  <a:srgbClr val="5C6370"/>
                </a:solidFill>
              </a:rPr>
              <a:t>Gateway</a:t>
            </a:r>
            <a:endParaRPr lang="en-US" sz="800" dirty="0"/>
          </a:p>
        </p:txBody>
      </p:sp>
      <p:sp>
        <p:nvSpPr>
          <p:cNvPr id="46" name="Shape 44"/>
          <p:cNvSpPr/>
          <p:nvPr/>
        </p:nvSpPr>
        <p:spPr>
          <a:xfrm>
            <a:off x="3383280" y="4434840"/>
            <a:ext cx="128016" cy="128016"/>
          </a:xfrm>
          <a:prstGeom prst="rect">
            <a:avLst/>
          </a:prstGeom>
          <a:solidFill>
            <a:srgbClr val="61AFEF"/>
          </a:solidFill>
          <a:ln w="12700">
            <a:solidFill>
              <a:srgbClr val="61AFEF"/>
            </a:solidFill>
            <a:prstDash val="solid"/>
          </a:ln>
        </p:spPr>
      </p:sp>
      <p:sp>
        <p:nvSpPr>
          <p:cNvPr id="47" name="Text 45"/>
          <p:cNvSpPr/>
          <p:nvPr/>
        </p:nvSpPr>
        <p:spPr>
          <a:xfrm>
            <a:off x="3566160" y="4425696"/>
            <a:ext cx="1097280" cy="164592"/>
          </a:xfrm>
          <a:prstGeom prst="rect">
            <a:avLst/>
          </a:prstGeom>
          <a:noFill/>
          <a:ln/>
        </p:spPr>
        <p:txBody>
          <a:bodyPr wrap="square" lIns="0" tIns="0" rIns="0" bIns="0" rtlCol="0" anchor="ctr"/>
          <a:lstStyle/>
          <a:p>
            <a:pPr indent="0" marL="0">
              <a:buNone/>
            </a:pPr>
            <a:r>
              <a:rPr lang="en-US" sz="800" dirty="0">
                <a:solidFill>
                  <a:srgbClr val="5C6370"/>
                </a:solidFill>
              </a:rPr>
              <a:t>Service</a:t>
            </a:r>
            <a:endParaRPr lang="en-US" sz="800" dirty="0"/>
          </a:p>
        </p:txBody>
      </p:sp>
      <p:sp>
        <p:nvSpPr>
          <p:cNvPr id="48" name="Shape 46"/>
          <p:cNvSpPr/>
          <p:nvPr/>
        </p:nvSpPr>
        <p:spPr>
          <a:xfrm>
            <a:off x="4892040" y="4434840"/>
            <a:ext cx="128016" cy="128016"/>
          </a:xfrm>
          <a:prstGeom prst="rect">
            <a:avLst/>
          </a:prstGeom>
          <a:solidFill>
            <a:srgbClr val="E5C07B"/>
          </a:solidFill>
          <a:ln w="12700">
            <a:solidFill>
              <a:srgbClr val="E5C07B"/>
            </a:solidFill>
            <a:prstDash val="solid"/>
          </a:ln>
        </p:spPr>
      </p:sp>
      <p:sp>
        <p:nvSpPr>
          <p:cNvPr id="49" name="Text 47"/>
          <p:cNvSpPr/>
          <p:nvPr/>
        </p:nvSpPr>
        <p:spPr>
          <a:xfrm>
            <a:off x="5074920" y="4425696"/>
            <a:ext cx="1097280" cy="164592"/>
          </a:xfrm>
          <a:prstGeom prst="rect">
            <a:avLst/>
          </a:prstGeom>
          <a:noFill/>
          <a:ln/>
        </p:spPr>
        <p:txBody>
          <a:bodyPr wrap="square" lIns="0" tIns="0" rIns="0" bIns="0" rtlCol="0" anchor="ctr"/>
          <a:lstStyle/>
          <a:p>
            <a:pPr indent="0" marL="0">
              <a:buNone/>
            </a:pPr>
            <a:r>
              <a:rPr lang="en-US" sz="800" dirty="0">
                <a:solidFill>
                  <a:srgbClr val="5C6370"/>
                </a:solidFill>
              </a:rPr>
              <a:t>Database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82C34"/>
        </a:solidFill>
      </p:bgPr>
    </p:bg>
    <p:spTree>
      <p:nvGrpSpPr>
        <p:cNvPr id="1" name=""/>
        <p:cNvGrpSpPr/>
        <p:nvPr/>
      </p:nvGrpSpPr>
      <p:grpSpPr>
        <a:xfrm>
          <a:off x="0" y="0"/>
          <a:ext cx="0" cy="0"/>
          <a:chOff x="0" y="0"/>
          <a:chExt cx="0" cy="0"/>
        </a:xfrm>
      </p:grpSpPr>
      <p:sp>
        <p:nvSpPr>
          <p:cNvPr id="2" name="Text 0"/>
          <p:cNvSpPr/>
          <p:nvPr/>
        </p:nvSpPr>
        <p:spPr>
          <a:xfrm>
            <a:off x="548640" y="201168"/>
            <a:ext cx="8229600" cy="237744"/>
          </a:xfrm>
          <a:prstGeom prst="rect">
            <a:avLst/>
          </a:prstGeom>
          <a:noFill/>
          <a:ln/>
        </p:spPr>
        <p:txBody>
          <a:bodyPr wrap="square" lIns="0" tIns="0" rIns="0" bIns="0" rtlCol="0" anchor="ctr"/>
          <a:lstStyle/>
          <a:p>
            <a:pPr indent="0" marL="0">
              <a:buNone/>
            </a:pPr>
            <a:r>
              <a:rPr lang="en-US" sz="800" b="1" spc="300" kern="0" dirty="0">
                <a:solidFill>
                  <a:srgbClr val="56B6C2"/>
                </a:solidFill>
              </a:rPr>
              <a:t>SECURITY</a:t>
            </a:r>
            <a:endParaRPr lang="en-US" sz="800" dirty="0"/>
          </a:p>
        </p:txBody>
      </p:sp>
      <p:sp>
        <p:nvSpPr>
          <p:cNvPr id="3" name="Text 1"/>
          <p:cNvSpPr/>
          <p:nvPr/>
        </p:nvSpPr>
        <p:spPr>
          <a:xfrm>
            <a:off x="548640" y="502920"/>
            <a:ext cx="8046720" cy="685800"/>
          </a:xfrm>
          <a:prstGeom prst="rect">
            <a:avLst/>
          </a:prstGeom>
          <a:noFill/>
          <a:ln/>
        </p:spPr>
        <p:txBody>
          <a:bodyPr wrap="square" lIns="0" tIns="0" rIns="0" bIns="0" rtlCol="0" anchor="ctr"/>
          <a:lstStyle/>
          <a:p>
            <a:pPr indent="0" marL="0">
              <a:buNone/>
            </a:pPr>
            <a:r>
              <a:rPr lang="en-US" sz="3600" b="1" dirty="0">
                <a:solidFill>
                  <a:srgbClr val="DCDFE4"/>
                </a:solidFill>
                <a:latin typeface="Calibri" pitchFamily="34" charset="0"/>
                <a:ea typeface="Calibri" pitchFamily="34" charset="-122"/>
                <a:cs typeface="Calibri" pitchFamily="34" charset="-120"/>
              </a:rPr>
              <a:t>JWT auth + role-based access control</a:t>
            </a:r>
            <a:endParaRPr lang="en-US" sz="3600" dirty="0"/>
          </a:p>
        </p:txBody>
      </p:sp>
      <p:sp>
        <p:nvSpPr>
          <p:cNvPr id="4" name="Shape 2"/>
          <p:cNvSpPr/>
          <p:nvPr/>
        </p:nvSpPr>
        <p:spPr>
          <a:xfrm>
            <a:off x="548640" y="4864608"/>
            <a:ext cx="8046720" cy="0"/>
          </a:xfrm>
          <a:prstGeom prst="line">
            <a:avLst/>
          </a:prstGeom>
          <a:noFill/>
          <a:ln w="5080">
            <a:solidFill>
              <a:srgbClr val="3E4451"/>
            </a:solidFill>
            <a:prstDash val="solid"/>
          </a:ln>
        </p:spPr>
      </p:sp>
      <p:sp>
        <p:nvSpPr>
          <p:cNvPr id="5" name="Text 3"/>
          <p:cNvSpPr/>
          <p:nvPr/>
        </p:nvSpPr>
        <p:spPr>
          <a:xfrm>
            <a:off x="548640" y="4901184"/>
            <a:ext cx="6400800" cy="182880"/>
          </a:xfrm>
          <a:prstGeom prst="rect">
            <a:avLst/>
          </a:prstGeom>
          <a:noFill/>
          <a:ln/>
        </p:spPr>
        <p:txBody>
          <a:bodyPr wrap="square" lIns="0" tIns="0" rIns="0" bIns="0" rtlCol="0" anchor="ctr"/>
          <a:lstStyle/>
          <a:p>
            <a:pPr indent="0" marL="0">
              <a:buNone/>
            </a:pPr>
            <a:r>
              <a:rPr lang="en-US" sz="750" dirty="0">
                <a:solidFill>
                  <a:srgbClr val="5C6370"/>
                </a:solidFill>
              </a:rPr>
              <a:t>Machine Maintenance Scheduler  ·  NTT Data Case Study</a:t>
            </a:r>
            <a:endParaRPr lang="en-US" sz="750" dirty="0"/>
          </a:p>
        </p:txBody>
      </p:sp>
      <p:sp>
        <p:nvSpPr>
          <p:cNvPr id="6" name="Text 4"/>
          <p:cNvSpPr/>
          <p:nvPr/>
        </p:nvSpPr>
        <p:spPr>
          <a:xfrm>
            <a:off x="6858000" y="4901184"/>
            <a:ext cx="1920240" cy="182880"/>
          </a:xfrm>
          <a:prstGeom prst="rect">
            <a:avLst/>
          </a:prstGeom>
          <a:noFill/>
          <a:ln/>
        </p:spPr>
        <p:txBody>
          <a:bodyPr wrap="square" lIns="0" tIns="0" rIns="0" bIns="0" rtlCol="0" anchor="ctr"/>
          <a:lstStyle/>
          <a:p>
            <a:pPr algn="r" indent="0" marL="0">
              <a:buNone/>
            </a:pPr>
            <a:r>
              <a:rPr lang="en-US" sz="750" dirty="0">
                <a:solidFill>
                  <a:srgbClr val="5C6370"/>
                </a:solidFill>
              </a:rPr>
              <a:t>Suraj Karthikeyan</a:t>
            </a:r>
            <a:endParaRPr lang="en-US" sz="750" dirty="0"/>
          </a:p>
        </p:txBody>
      </p:sp>
      <p:sp>
        <p:nvSpPr>
          <p:cNvPr id="7" name="Shape 5"/>
          <p:cNvSpPr/>
          <p:nvPr/>
        </p:nvSpPr>
        <p:spPr>
          <a:xfrm>
            <a:off x="548640" y="1371600"/>
            <a:ext cx="1828800" cy="512064"/>
          </a:xfrm>
          <a:prstGeom prst="rect">
            <a:avLst/>
          </a:prstGeom>
          <a:solidFill>
            <a:srgbClr val="21252B"/>
          </a:solidFill>
          <a:ln w="9525">
            <a:solidFill>
              <a:srgbClr val="C678DD"/>
            </a:solidFill>
            <a:prstDash val="solid"/>
          </a:ln>
        </p:spPr>
      </p:sp>
      <p:sp>
        <p:nvSpPr>
          <p:cNvPr id="8" name="Text 6"/>
          <p:cNvSpPr/>
          <p:nvPr/>
        </p:nvSpPr>
        <p:spPr>
          <a:xfrm>
            <a:off x="548640" y="1371600"/>
            <a:ext cx="1828800" cy="512064"/>
          </a:xfrm>
          <a:prstGeom prst="rect">
            <a:avLst/>
          </a:prstGeom>
          <a:noFill/>
          <a:ln/>
        </p:spPr>
        <p:txBody>
          <a:bodyPr wrap="square" lIns="0" tIns="0" rIns="0" bIns="0" rtlCol="0" anchor="ctr"/>
          <a:lstStyle/>
          <a:p>
            <a:pPr algn="ctr" indent="0" marL="0">
              <a:buNone/>
            </a:pPr>
            <a:r>
              <a:rPr lang="en-US" sz="1100" b="1" dirty="0">
                <a:solidFill>
                  <a:srgbClr val="C678DD"/>
                </a:solidFill>
              </a:rPr>
              <a:t>Login →</a:t>
            </a:r>
            <a:endParaRPr lang="en-US" sz="1100" dirty="0"/>
          </a:p>
        </p:txBody>
      </p:sp>
      <p:sp>
        <p:nvSpPr>
          <p:cNvPr id="9" name="Shape 7"/>
          <p:cNvSpPr/>
          <p:nvPr/>
        </p:nvSpPr>
        <p:spPr>
          <a:xfrm>
            <a:off x="2578608" y="1371600"/>
            <a:ext cx="1828800" cy="512064"/>
          </a:xfrm>
          <a:prstGeom prst="rect">
            <a:avLst/>
          </a:prstGeom>
          <a:solidFill>
            <a:srgbClr val="21252B"/>
          </a:solidFill>
          <a:ln w="9525">
            <a:solidFill>
              <a:srgbClr val="C678DD"/>
            </a:solidFill>
            <a:prstDash val="solid"/>
          </a:ln>
        </p:spPr>
      </p:sp>
      <p:sp>
        <p:nvSpPr>
          <p:cNvPr id="10" name="Text 8"/>
          <p:cNvSpPr/>
          <p:nvPr/>
        </p:nvSpPr>
        <p:spPr>
          <a:xfrm>
            <a:off x="2578608" y="1371600"/>
            <a:ext cx="1828800" cy="512064"/>
          </a:xfrm>
          <a:prstGeom prst="rect">
            <a:avLst/>
          </a:prstGeom>
          <a:noFill/>
          <a:ln/>
        </p:spPr>
        <p:txBody>
          <a:bodyPr wrap="square" lIns="0" tIns="0" rIns="0" bIns="0" rtlCol="0" anchor="ctr"/>
          <a:lstStyle/>
          <a:p>
            <a:pPr algn="ctr" indent="0" marL="0">
              <a:buNone/>
            </a:pPr>
            <a:r>
              <a:rPr lang="en-US" sz="1100" b="1" dirty="0">
                <a:solidFill>
                  <a:srgbClr val="C678DD"/>
                </a:solidFill>
              </a:rPr>
              <a:t>bcrypt verify →</a:t>
            </a:r>
            <a:endParaRPr lang="en-US" sz="1100" dirty="0"/>
          </a:p>
        </p:txBody>
      </p:sp>
      <p:sp>
        <p:nvSpPr>
          <p:cNvPr id="11" name="Shape 9"/>
          <p:cNvSpPr/>
          <p:nvPr/>
        </p:nvSpPr>
        <p:spPr>
          <a:xfrm>
            <a:off x="4608576" y="1371600"/>
            <a:ext cx="1828800" cy="512064"/>
          </a:xfrm>
          <a:prstGeom prst="rect">
            <a:avLst/>
          </a:prstGeom>
          <a:solidFill>
            <a:srgbClr val="21252B"/>
          </a:solidFill>
          <a:ln w="9525">
            <a:solidFill>
              <a:srgbClr val="C678DD"/>
            </a:solidFill>
            <a:prstDash val="solid"/>
          </a:ln>
        </p:spPr>
      </p:sp>
      <p:sp>
        <p:nvSpPr>
          <p:cNvPr id="12" name="Text 10"/>
          <p:cNvSpPr/>
          <p:nvPr/>
        </p:nvSpPr>
        <p:spPr>
          <a:xfrm>
            <a:off x="4608576" y="1371600"/>
            <a:ext cx="1828800" cy="512064"/>
          </a:xfrm>
          <a:prstGeom prst="rect">
            <a:avLst/>
          </a:prstGeom>
          <a:noFill/>
          <a:ln/>
        </p:spPr>
        <p:txBody>
          <a:bodyPr wrap="square" lIns="0" tIns="0" rIns="0" bIns="0" rtlCol="0" anchor="ctr"/>
          <a:lstStyle/>
          <a:p>
            <a:pPr algn="ctr" indent="0" marL="0">
              <a:buNone/>
            </a:pPr>
            <a:r>
              <a:rPr lang="en-US" sz="1100" b="1" dirty="0">
                <a:solidFill>
                  <a:srgbClr val="C678DD"/>
                </a:solidFill>
              </a:rPr>
              <a:t>JWT signed →</a:t>
            </a:r>
            <a:endParaRPr lang="en-US" sz="1100" dirty="0"/>
          </a:p>
        </p:txBody>
      </p:sp>
      <p:sp>
        <p:nvSpPr>
          <p:cNvPr id="13" name="Shape 11"/>
          <p:cNvSpPr/>
          <p:nvPr/>
        </p:nvSpPr>
        <p:spPr>
          <a:xfrm>
            <a:off x="6638544" y="1371600"/>
            <a:ext cx="1828800" cy="512064"/>
          </a:xfrm>
          <a:prstGeom prst="rect">
            <a:avLst/>
          </a:prstGeom>
          <a:solidFill>
            <a:srgbClr val="21252B"/>
          </a:solidFill>
          <a:ln w="9525">
            <a:solidFill>
              <a:srgbClr val="C678DD"/>
            </a:solidFill>
            <a:prstDash val="solid"/>
          </a:ln>
        </p:spPr>
      </p:sp>
      <p:sp>
        <p:nvSpPr>
          <p:cNvPr id="14" name="Text 12"/>
          <p:cNvSpPr/>
          <p:nvPr/>
        </p:nvSpPr>
        <p:spPr>
          <a:xfrm>
            <a:off x="6638544" y="1371600"/>
            <a:ext cx="1828800" cy="512064"/>
          </a:xfrm>
          <a:prstGeom prst="rect">
            <a:avLst/>
          </a:prstGeom>
          <a:noFill/>
          <a:ln/>
        </p:spPr>
        <p:txBody>
          <a:bodyPr wrap="square" lIns="0" tIns="0" rIns="0" bIns="0" rtlCol="0" anchor="ctr"/>
          <a:lstStyle/>
          <a:p>
            <a:pPr algn="ctr" indent="0" marL="0">
              <a:buNone/>
            </a:pPr>
            <a:r>
              <a:rPr lang="en-US" sz="1100" b="1" dirty="0">
                <a:solidFill>
                  <a:srgbClr val="C678DD"/>
                </a:solidFill>
              </a:rPr>
              <a:t>Token stored →</a:t>
            </a:r>
            <a:endParaRPr lang="en-US" sz="1100" dirty="0"/>
          </a:p>
        </p:txBody>
      </p:sp>
      <p:sp>
        <p:nvSpPr>
          <p:cNvPr id="15" name="Shape 13"/>
          <p:cNvSpPr/>
          <p:nvPr/>
        </p:nvSpPr>
        <p:spPr>
          <a:xfrm>
            <a:off x="548640" y="2066544"/>
            <a:ext cx="1828800" cy="512064"/>
          </a:xfrm>
          <a:prstGeom prst="rect">
            <a:avLst/>
          </a:prstGeom>
          <a:solidFill>
            <a:srgbClr val="21252B"/>
          </a:solidFill>
          <a:ln w="9525">
            <a:solidFill>
              <a:srgbClr val="61AFEF"/>
            </a:solidFill>
            <a:prstDash val="solid"/>
          </a:ln>
        </p:spPr>
      </p:sp>
      <p:sp>
        <p:nvSpPr>
          <p:cNvPr id="16" name="Text 14"/>
          <p:cNvSpPr/>
          <p:nvPr/>
        </p:nvSpPr>
        <p:spPr>
          <a:xfrm>
            <a:off x="548640" y="2066544"/>
            <a:ext cx="1828800" cy="512064"/>
          </a:xfrm>
          <a:prstGeom prst="rect">
            <a:avLst/>
          </a:prstGeom>
          <a:noFill/>
          <a:ln/>
        </p:spPr>
        <p:txBody>
          <a:bodyPr wrap="square" lIns="0" tIns="0" rIns="0" bIns="0" rtlCol="0" anchor="ctr"/>
          <a:lstStyle/>
          <a:p>
            <a:pPr algn="ctr" indent="0" marL="0">
              <a:buNone/>
            </a:pPr>
            <a:r>
              <a:rPr lang="en-US" sz="1100" b="1" dirty="0">
                <a:solidFill>
                  <a:srgbClr val="61AFEF"/>
                </a:solidFill>
              </a:rPr>
              <a:t>Bearer header →</a:t>
            </a:r>
            <a:endParaRPr lang="en-US" sz="1100" dirty="0"/>
          </a:p>
        </p:txBody>
      </p:sp>
      <p:sp>
        <p:nvSpPr>
          <p:cNvPr id="17" name="Shape 15"/>
          <p:cNvSpPr/>
          <p:nvPr/>
        </p:nvSpPr>
        <p:spPr>
          <a:xfrm>
            <a:off x="2578608" y="2066544"/>
            <a:ext cx="1828800" cy="512064"/>
          </a:xfrm>
          <a:prstGeom prst="rect">
            <a:avLst/>
          </a:prstGeom>
          <a:solidFill>
            <a:srgbClr val="21252B"/>
          </a:solidFill>
          <a:ln w="9525">
            <a:solidFill>
              <a:srgbClr val="61AFEF"/>
            </a:solidFill>
            <a:prstDash val="solid"/>
          </a:ln>
        </p:spPr>
      </p:sp>
      <p:sp>
        <p:nvSpPr>
          <p:cNvPr id="18" name="Text 16"/>
          <p:cNvSpPr/>
          <p:nvPr/>
        </p:nvSpPr>
        <p:spPr>
          <a:xfrm>
            <a:off x="2578608" y="2066544"/>
            <a:ext cx="1828800" cy="512064"/>
          </a:xfrm>
          <a:prstGeom prst="rect">
            <a:avLst/>
          </a:prstGeom>
          <a:noFill/>
          <a:ln/>
        </p:spPr>
        <p:txBody>
          <a:bodyPr wrap="square" lIns="0" tIns="0" rIns="0" bIns="0" rtlCol="0" anchor="ctr"/>
          <a:lstStyle/>
          <a:p>
            <a:pPr algn="ctr" indent="0" marL="0">
              <a:buNone/>
            </a:pPr>
            <a:r>
              <a:rPr lang="en-US" sz="1100" b="1" dirty="0">
                <a:solidFill>
                  <a:srgbClr val="61AFEF"/>
                </a:solidFill>
              </a:rPr>
              <a:t>Gateway forwards →</a:t>
            </a:r>
            <a:endParaRPr lang="en-US" sz="1100" dirty="0"/>
          </a:p>
        </p:txBody>
      </p:sp>
      <p:sp>
        <p:nvSpPr>
          <p:cNvPr id="19" name="Shape 17"/>
          <p:cNvSpPr/>
          <p:nvPr/>
        </p:nvSpPr>
        <p:spPr>
          <a:xfrm>
            <a:off x="4608576" y="2066544"/>
            <a:ext cx="1828800" cy="512064"/>
          </a:xfrm>
          <a:prstGeom prst="rect">
            <a:avLst/>
          </a:prstGeom>
          <a:solidFill>
            <a:srgbClr val="21252B"/>
          </a:solidFill>
          <a:ln w="9525">
            <a:solidFill>
              <a:srgbClr val="61AFEF"/>
            </a:solidFill>
            <a:prstDash val="solid"/>
          </a:ln>
        </p:spPr>
      </p:sp>
      <p:sp>
        <p:nvSpPr>
          <p:cNvPr id="20" name="Text 18"/>
          <p:cNvSpPr/>
          <p:nvPr/>
        </p:nvSpPr>
        <p:spPr>
          <a:xfrm>
            <a:off x="4608576" y="2066544"/>
            <a:ext cx="1828800" cy="512064"/>
          </a:xfrm>
          <a:prstGeom prst="rect">
            <a:avLst/>
          </a:prstGeom>
          <a:noFill/>
          <a:ln/>
        </p:spPr>
        <p:txBody>
          <a:bodyPr wrap="square" lIns="0" tIns="0" rIns="0" bIns="0" rtlCol="0" anchor="ctr"/>
          <a:lstStyle/>
          <a:p>
            <a:pPr algn="ctr" indent="0" marL="0">
              <a:buNone/>
            </a:pPr>
            <a:r>
              <a:rPr lang="en-US" sz="1100" b="1" dirty="0">
                <a:solidFill>
                  <a:srgbClr val="61AFEF"/>
                </a:solidFill>
              </a:rPr>
              <a:t>requireAuth →</a:t>
            </a:r>
            <a:endParaRPr lang="en-US" sz="1100" dirty="0"/>
          </a:p>
        </p:txBody>
      </p:sp>
      <p:sp>
        <p:nvSpPr>
          <p:cNvPr id="21" name="Shape 19"/>
          <p:cNvSpPr/>
          <p:nvPr/>
        </p:nvSpPr>
        <p:spPr>
          <a:xfrm>
            <a:off x="6638544" y="2066544"/>
            <a:ext cx="1828800" cy="512064"/>
          </a:xfrm>
          <a:prstGeom prst="rect">
            <a:avLst/>
          </a:prstGeom>
          <a:solidFill>
            <a:srgbClr val="21252B"/>
          </a:solidFill>
          <a:ln w="9525">
            <a:solidFill>
              <a:srgbClr val="61AFEF"/>
            </a:solidFill>
            <a:prstDash val="solid"/>
          </a:ln>
        </p:spPr>
      </p:sp>
      <p:sp>
        <p:nvSpPr>
          <p:cNvPr id="22" name="Text 20"/>
          <p:cNvSpPr/>
          <p:nvPr/>
        </p:nvSpPr>
        <p:spPr>
          <a:xfrm>
            <a:off x="6638544" y="2066544"/>
            <a:ext cx="1828800" cy="512064"/>
          </a:xfrm>
          <a:prstGeom prst="rect">
            <a:avLst/>
          </a:prstGeom>
          <a:noFill/>
          <a:ln/>
        </p:spPr>
        <p:txBody>
          <a:bodyPr wrap="square" lIns="0" tIns="0" rIns="0" bIns="0" rtlCol="0" anchor="ctr"/>
          <a:lstStyle/>
          <a:p>
            <a:pPr algn="ctr" indent="0" marL="0">
              <a:buNone/>
            </a:pPr>
            <a:r>
              <a:rPr lang="en-US" sz="1100" b="1" dirty="0">
                <a:solidFill>
                  <a:srgbClr val="61AFEF"/>
                </a:solidFill>
              </a:rPr>
              <a:t>Role checked</a:t>
            </a:r>
            <a:endParaRPr lang="en-US" sz="1100" dirty="0"/>
          </a:p>
        </p:txBody>
      </p:sp>
      <p:sp>
        <p:nvSpPr>
          <p:cNvPr id="23" name="Text 21"/>
          <p:cNvSpPr/>
          <p:nvPr/>
        </p:nvSpPr>
        <p:spPr>
          <a:xfrm>
            <a:off x="4937760" y="2962656"/>
            <a:ext cx="1828800" cy="292608"/>
          </a:xfrm>
          <a:prstGeom prst="rect">
            <a:avLst/>
          </a:prstGeom>
          <a:noFill/>
          <a:ln/>
        </p:spPr>
        <p:txBody>
          <a:bodyPr wrap="square" lIns="0" tIns="0" rIns="0" bIns="0" rtlCol="0" anchor="ctr"/>
          <a:lstStyle/>
          <a:p>
            <a:pPr algn="ctr" indent="0" marL="0">
              <a:buNone/>
            </a:pPr>
            <a:r>
              <a:rPr lang="en-US" sz="1200" b="1" dirty="0">
                <a:solidFill>
                  <a:srgbClr val="56B6C2"/>
                </a:solidFill>
              </a:rPr>
              <a:t>Admin</a:t>
            </a:r>
            <a:endParaRPr lang="en-US" sz="1200" dirty="0"/>
          </a:p>
        </p:txBody>
      </p:sp>
      <p:sp>
        <p:nvSpPr>
          <p:cNvPr id="24" name="Text 22"/>
          <p:cNvSpPr/>
          <p:nvPr/>
        </p:nvSpPr>
        <p:spPr>
          <a:xfrm>
            <a:off x="6858000" y="2962656"/>
            <a:ext cx="1828800" cy="292608"/>
          </a:xfrm>
          <a:prstGeom prst="rect">
            <a:avLst/>
          </a:prstGeom>
          <a:noFill/>
          <a:ln/>
        </p:spPr>
        <p:txBody>
          <a:bodyPr wrap="square" lIns="0" tIns="0" rIns="0" bIns="0" rtlCol="0" anchor="ctr"/>
          <a:lstStyle/>
          <a:p>
            <a:pPr algn="ctr" indent="0" marL="0">
              <a:buNone/>
            </a:pPr>
            <a:r>
              <a:rPr lang="en-US" sz="1200" b="1" dirty="0">
                <a:solidFill>
                  <a:srgbClr val="61AFEF"/>
                </a:solidFill>
              </a:rPr>
              <a:t>Technician</a:t>
            </a:r>
            <a:endParaRPr lang="en-US" sz="1200" dirty="0"/>
          </a:p>
        </p:txBody>
      </p:sp>
      <p:sp>
        <p:nvSpPr>
          <p:cNvPr id="25" name="Text 23"/>
          <p:cNvSpPr/>
          <p:nvPr/>
        </p:nvSpPr>
        <p:spPr>
          <a:xfrm>
            <a:off x="548640" y="3291840"/>
            <a:ext cx="4206240" cy="329184"/>
          </a:xfrm>
          <a:prstGeom prst="rect">
            <a:avLst/>
          </a:prstGeom>
          <a:noFill/>
          <a:ln/>
        </p:spPr>
        <p:txBody>
          <a:bodyPr wrap="square" lIns="0" tIns="0" rIns="0" bIns="0" rtlCol="0" anchor="ctr"/>
          <a:lstStyle/>
          <a:p>
            <a:pPr indent="0" marL="0">
              <a:buNone/>
            </a:pPr>
            <a:r>
              <a:rPr lang="en-US" sz="1100" dirty="0">
                <a:solidFill>
                  <a:srgbClr val="ABB2BF"/>
                </a:solidFill>
              </a:rPr>
              <a:t>View data &amp; dashboard</a:t>
            </a:r>
            <a:endParaRPr lang="en-US" sz="1100" dirty="0"/>
          </a:p>
        </p:txBody>
      </p:sp>
      <p:sp>
        <p:nvSpPr>
          <p:cNvPr id="26" name="Text 24"/>
          <p:cNvSpPr/>
          <p:nvPr/>
        </p:nvSpPr>
        <p:spPr>
          <a:xfrm>
            <a:off x="4937760" y="3291840"/>
            <a:ext cx="1828800" cy="329184"/>
          </a:xfrm>
          <a:prstGeom prst="rect">
            <a:avLst/>
          </a:prstGeom>
          <a:noFill/>
          <a:ln/>
        </p:spPr>
        <p:txBody>
          <a:bodyPr wrap="square" lIns="0" tIns="0" rIns="0" bIns="0" rtlCol="0" anchor="ctr"/>
          <a:lstStyle/>
          <a:p>
            <a:pPr algn="ctr" indent="0" marL="0">
              <a:buNone/>
            </a:pPr>
            <a:r>
              <a:rPr lang="en-US" sz="1300" b="1" dirty="0">
                <a:solidFill>
                  <a:srgbClr val="98C379"/>
                </a:solidFill>
              </a:rPr>
              <a:t>✓</a:t>
            </a:r>
            <a:endParaRPr lang="en-US" sz="1300" dirty="0"/>
          </a:p>
        </p:txBody>
      </p:sp>
      <p:sp>
        <p:nvSpPr>
          <p:cNvPr id="27" name="Text 25"/>
          <p:cNvSpPr/>
          <p:nvPr/>
        </p:nvSpPr>
        <p:spPr>
          <a:xfrm>
            <a:off x="6858000" y="3291840"/>
            <a:ext cx="1828800" cy="329184"/>
          </a:xfrm>
          <a:prstGeom prst="rect">
            <a:avLst/>
          </a:prstGeom>
          <a:noFill/>
          <a:ln/>
        </p:spPr>
        <p:txBody>
          <a:bodyPr wrap="square" lIns="0" tIns="0" rIns="0" bIns="0" rtlCol="0" anchor="ctr"/>
          <a:lstStyle/>
          <a:p>
            <a:pPr algn="ctr" indent="0" marL="0">
              <a:buNone/>
            </a:pPr>
            <a:r>
              <a:rPr lang="en-US" sz="1300" b="1" dirty="0">
                <a:solidFill>
                  <a:srgbClr val="98C379"/>
                </a:solidFill>
              </a:rPr>
              <a:t>✓</a:t>
            </a:r>
            <a:endParaRPr lang="en-US" sz="1300" dirty="0"/>
          </a:p>
        </p:txBody>
      </p:sp>
      <p:sp>
        <p:nvSpPr>
          <p:cNvPr id="28" name="Text 26"/>
          <p:cNvSpPr/>
          <p:nvPr/>
        </p:nvSpPr>
        <p:spPr>
          <a:xfrm>
            <a:off x="548640" y="3657600"/>
            <a:ext cx="4206240" cy="329184"/>
          </a:xfrm>
          <a:prstGeom prst="rect">
            <a:avLst/>
          </a:prstGeom>
          <a:noFill/>
          <a:ln/>
        </p:spPr>
        <p:txBody>
          <a:bodyPr wrap="square" lIns="0" tIns="0" rIns="0" bIns="0" rtlCol="0" anchor="ctr"/>
          <a:lstStyle/>
          <a:p>
            <a:pPr indent="0" marL="0">
              <a:buNone/>
            </a:pPr>
            <a:r>
              <a:rPr lang="en-US" sz="1100" dirty="0">
                <a:solidFill>
                  <a:srgbClr val="ABB2BF"/>
                </a:solidFill>
              </a:rPr>
              <a:t>Update task status</a:t>
            </a:r>
            <a:endParaRPr lang="en-US" sz="1100" dirty="0"/>
          </a:p>
        </p:txBody>
      </p:sp>
      <p:sp>
        <p:nvSpPr>
          <p:cNvPr id="29" name="Text 27"/>
          <p:cNvSpPr/>
          <p:nvPr/>
        </p:nvSpPr>
        <p:spPr>
          <a:xfrm>
            <a:off x="4937760" y="3657600"/>
            <a:ext cx="1828800" cy="329184"/>
          </a:xfrm>
          <a:prstGeom prst="rect">
            <a:avLst/>
          </a:prstGeom>
          <a:noFill/>
          <a:ln/>
        </p:spPr>
        <p:txBody>
          <a:bodyPr wrap="square" lIns="0" tIns="0" rIns="0" bIns="0" rtlCol="0" anchor="ctr"/>
          <a:lstStyle/>
          <a:p>
            <a:pPr algn="ctr" indent="0" marL="0">
              <a:buNone/>
            </a:pPr>
            <a:r>
              <a:rPr lang="en-US" sz="1300" b="1" dirty="0">
                <a:solidFill>
                  <a:srgbClr val="98C379"/>
                </a:solidFill>
              </a:rPr>
              <a:t>✓</a:t>
            </a:r>
            <a:endParaRPr lang="en-US" sz="1300" dirty="0"/>
          </a:p>
        </p:txBody>
      </p:sp>
      <p:sp>
        <p:nvSpPr>
          <p:cNvPr id="30" name="Text 28"/>
          <p:cNvSpPr/>
          <p:nvPr/>
        </p:nvSpPr>
        <p:spPr>
          <a:xfrm>
            <a:off x="6858000" y="3657600"/>
            <a:ext cx="1828800" cy="329184"/>
          </a:xfrm>
          <a:prstGeom prst="rect">
            <a:avLst/>
          </a:prstGeom>
          <a:noFill/>
          <a:ln/>
        </p:spPr>
        <p:txBody>
          <a:bodyPr wrap="square" lIns="0" tIns="0" rIns="0" bIns="0" rtlCol="0" anchor="ctr"/>
          <a:lstStyle/>
          <a:p>
            <a:pPr algn="ctr" indent="0" marL="0">
              <a:buNone/>
            </a:pPr>
            <a:r>
              <a:rPr lang="en-US" sz="1300" b="1" dirty="0">
                <a:solidFill>
                  <a:srgbClr val="98C379"/>
                </a:solidFill>
              </a:rPr>
              <a:t>✓</a:t>
            </a:r>
            <a:endParaRPr lang="en-US" sz="1300" dirty="0"/>
          </a:p>
        </p:txBody>
      </p:sp>
      <p:sp>
        <p:nvSpPr>
          <p:cNvPr id="31" name="Text 29"/>
          <p:cNvSpPr/>
          <p:nvPr/>
        </p:nvSpPr>
        <p:spPr>
          <a:xfrm>
            <a:off x="548640" y="4023360"/>
            <a:ext cx="4206240" cy="329184"/>
          </a:xfrm>
          <a:prstGeom prst="rect">
            <a:avLst/>
          </a:prstGeom>
          <a:noFill/>
          <a:ln/>
        </p:spPr>
        <p:txBody>
          <a:bodyPr wrap="square" lIns="0" tIns="0" rIns="0" bIns="0" rtlCol="0" anchor="ctr"/>
          <a:lstStyle/>
          <a:p>
            <a:pPr indent="0" marL="0">
              <a:buNone/>
            </a:pPr>
            <a:r>
              <a:rPr lang="en-US" sz="1100" dirty="0">
                <a:solidFill>
                  <a:srgbClr val="ABB2BF"/>
                </a:solidFill>
              </a:rPr>
              <a:t>Create / edit machines</a:t>
            </a:r>
            <a:endParaRPr lang="en-US" sz="1100" dirty="0"/>
          </a:p>
        </p:txBody>
      </p:sp>
      <p:sp>
        <p:nvSpPr>
          <p:cNvPr id="32" name="Text 30"/>
          <p:cNvSpPr/>
          <p:nvPr/>
        </p:nvSpPr>
        <p:spPr>
          <a:xfrm>
            <a:off x="4937760" y="4023360"/>
            <a:ext cx="1828800" cy="329184"/>
          </a:xfrm>
          <a:prstGeom prst="rect">
            <a:avLst/>
          </a:prstGeom>
          <a:noFill/>
          <a:ln/>
        </p:spPr>
        <p:txBody>
          <a:bodyPr wrap="square" lIns="0" tIns="0" rIns="0" bIns="0" rtlCol="0" anchor="ctr"/>
          <a:lstStyle/>
          <a:p>
            <a:pPr algn="ctr" indent="0" marL="0">
              <a:buNone/>
            </a:pPr>
            <a:r>
              <a:rPr lang="en-US" sz="1300" b="1" dirty="0">
                <a:solidFill>
                  <a:srgbClr val="98C379"/>
                </a:solidFill>
              </a:rPr>
              <a:t>✓</a:t>
            </a:r>
            <a:endParaRPr lang="en-US" sz="1300" dirty="0"/>
          </a:p>
        </p:txBody>
      </p:sp>
      <p:sp>
        <p:nvSpPr>
          <p:cNvPr id="33" name="Text 31"/>
          <p:cNvSpPr/>
          <p:nvPr/>
        </p:nvSpPr>
        <p:spPr>
          <a:xfrm>
            <a:off x="6858000" y="4023360"/>
            <a:ext cx="1828800" cy="329184"/>
          </a:xfrm>
          <a:prstGeom prst="rect">
            <a:avLst/>
          </a:prstGeom>
          <a:noFill/>
          <a:ln/>
        </p:spPr>
        <p:txBody>
          <a:bodyPr wrap="square" lIns="0" tIns="0" rIns="0" bIns="0" rtlCol="0" anchor="ctr"/>
          <a:lstStyle/>
          <a:p>
            <a:pPr algn="ctr" indent="0" marL="0">
              <a:buNone/>
            </a:pPr>
            <a:r>
              <a:rPr lang="en-US" sz="1300" b="1" dirty="0">
                <a:solidFill>
                  <a:srgbClr val="E06C75"/>
                </a:solidFill>
              </a:rPr>
              <a:t>✗</a:t>
            </a:r>
            <a:endParaRPr lang="en-US" sz="1300" dirty="0"/>
          </a:p>
        </p:txBody>
      </p:sp>
      <p:sp>
        <p:nvSpPr>
          <p:cNvPr id="34" name="Text 32"/>
          <p:cNvSpPr/>
          <p:nvPr/>
        </p:nvSpPr>
        <p:spPr>
          <a:xfrm>
            <a:off x="548640" y="4389120"/>
            <a:ext cx="4206240" cy="329184"/>
          </a:xfrm>
          <a:prstGeom prst="rect">
            <a:avLst/>
          </a:prstGeom>
          <a:noFill/>
          <a:ln/>
        </p:spPr>
        <p:txBody>
          <a:bodyPr wrap="square" lIns="0" tIns="0" rIns="0" bIns="0" rtlCol="0" anchor="ctr"/>
          <a:lstStyle/>
          <a:p>
            <a:pPr indent="0" marL="0">
              <a:buNone/>
            </a:pPr>
            <a:r>
              <a:rPr lang="en-US" sz="1100" dirty="0">
                <a:solidFill>
                  <a:srgbClr val="ABB2BF"/>
                </a:solidFill>
              </a:rPr>
              <a:t>Manage users</a:t>
            </a:r>
            <a:endParaRPr lang="en-US" sz="1100" dirty="0"/>
          </a:p>
        </p:txBody>
      </p:sp>
      <p:sp>
        <p:nvSpPr>
          <p:cNvPr id="35" name="Text 33"/>
          <p:cNvSpPr/>
          <p:nvPr/>
        </p:nvSpPr>
        <p:spPr>
          <a:xfrm>
            <a:off x="4937760" y="4389120"/>
            <a:ext cx="1828800" cy="329184"/>
          </a:xfrm>
          <a:prstGeom prst="rect">
            <a:avLst/>
          </a:prstGeom>
          <a:noFill/>
          <a:ln/>
        </p:spPr>
        <p:txBody>
          <a:bodyPr wrap="square" lIns="0" tIns="0" rIns="0" bIns="0" rtlCol="0" anchor="ctr"/>
          <a:lstStyle/>
          <a:p>
            <a:pPr algn="ctr" indent="0" marL="0">
              <a:buNone/>
            </a:pPr>
            <a:r>
              <a:rPr lang="en-US" sz="1300" b="1" dirty="0">
                <a:solidFill>
                  <a:srgbClr val="98C379"/>
                </a:solidFill>
              </a:rPr>
              <a:t>✓</a:t>
            </a:r>
            <a:endParaRPr lang="en-US" sz="1300" dirty="0"/>
          </a:p>
        </p:txBody>
      </p:sp>
      <p:sp>
        <p:nvSpPr>
          <p:cNvPr id="36" name="Text 34"/>
          <p:cNvSpPr/>
          <p:nvPr/>
        </p:nvSpPr>
        <p:spPr>
          <a:xfrm>
            <a:off x="6858000" y="4389120"/>
            <a:ext cx="1828800" cy="329184"/>
          </a:xfrm>
          <a:prstGeom prst="rect">
            <a:avLst/>
          </a:prstGeom>
          <a:noFill/>
          <a:ln/>
        </p:spPr>
        <p:txBody>
          <a:bodyPr wrap="square" lIns="0" tIns="0" rIns="0" bIns="0" rtlCol="0" anchor="ctr"/>
          <a:lstStyle/>
          <a:p>
            <a:pPr algn="ctr" indent="0" marL="0">
              <a:buNone/>
            </a:pPr>
            <a:r>
              <a:rPr lang="en-US" sz="1300" b="1" dirty="0">
                <a:solidFill>
                  <a:srgbClr val="E06C75"/>
                </a:solidFill>
              </a:rPr>
              <a:t>✗</a:t>
            </a:r>
            <a:endParaRPr lang="en-US" sz="1300" dirty="0"/>
          </a:p>
        </p:txBody>
      </p:sp>
      <p:sp>
        <p:nvSpPr>
          <p:cNvPr id="37" name="Shape 35"/>
          <p:cNvSpPr/>
          <p:nvPr/>
        </p:nvSpPr>
        <p:spPr>
          <a:xfrm>
            <a:off x="548640" y="2907792"/>
            <a:ext cx="8046720" cy="54864"/>
          </a:xfrm>
          <a:prstGeom prst="rect">
            <a:avLst/>
          </a:prstGeom>
          <a:solidFill>
            <a:srgbClr val="3E4451"/>
          </a:solidFill>
          <a:ln w="12700">
            <a:solidFill>
              <a:srgbClr val="3E4451"/>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82C34"/>
        </a:solidFill>
      </p:bgPr>
    </p:bg>
    <p:spTree>
      <p:nvGrpSpPr>
        <p:cNvPr id="1" name=""/>
        <p:cNvGrpSpPr/>
        <p:nvPr/>
      </p:nvGrpSpPr>
      <p:grpSpPr>
        <a:xfrm>
          <a:off x="0" y="0"/>
          <a:ext cx="0" cy="0"/>
          <a:chOff x="0" y="0"/>
          <a:chExt cx="0" cy="0"/>
        </a:xfrm>
      </p:grpSpPr>
      <p:sp>
        <p:nvSpPr>
          <p:cNvPr id="2" name="Text 0"/>
          <p:cNvSpPr/>
          <p:nvPr/>
        </p:nvSpPr>
        <p:spPr>
          <a:xfrm>
            <a:off x="548640" y="201168"/>
            <a:ext cx="8229600" cy="237744"/>
          </a:xfrm>
          <a:prstGeom prst="rect">
            <a:avLst/>
          </a:prstGeom>
          <a:noFill/>
          <a:ln/>
        </p:spPr>
        <p:txBody>
          <a:bodyPr wrap="square" lIns="0" tIns="0" rIns="0" bIns="0" rtlCol="0" anchor="ctr"/>
          <a:lstStyle/>
          <a:p>
            <a:pPr indent="0" marL="0">
              <a:buNone/>
            </a:pPr>
            <a:r>
              <a:rPr lang="en-US" sz="800" b="1" spc="300" kern="0" dirty="0">
                <a:solidFill>
                  <a:srgbClr val="56B6C2"/>
                </a:solidFill>
              </a:rPr>
              <a:t>THE AUTONOMOUS SYSTEM</a:t>
            </a:r>
            <a:endParaRPr lang="en-US" sz="800" dirty="0"/>
          </a:p>
        </p:txBody>
      </p:sp>
      <p:sp>
        <p:nvSpPr>
          <p:cNvPr id="3" name="Text 1"/>
          <p:cNvSpPr/>
          <p:nvPr/>
        </p:nvSpPr>
        <p:spPr>
          <a:xfrm>
            <a:off x="548640" y="822960"/>
            <a:ext cx="8046720" cy="777240"/>
          </a:xfrm>
          <a:prstGeom prst="rect">
            <a:avLst/>
          </a:prstGeom>
          <a:noFill/>
          <a:ln/>
        </p:spPr>
        <p:txBody>
          <a:bodyPr wrap="square" lIns="0" tIns="0" rIns="0" bIns="0" rtlCol="0" anchor="ctr"/>
          <a:lstStyle/>
          <a:p>
            <a:pPr indent="0" marL="0">
              <a:buNone/>
            </a:pPr>
            <a:r>
              <a:rPr lang="en-US" sz="4400" b="1" dirty="0">
                <a:solidFill>
                  <a:srgbClr val="DCDFE4"/>
                </a:solidFill>
                <a:latin typeface="Calibri" pitchFamily="34" charset="0"/>
                <a:ea typeface="Calibri" pitchFamily="34" charset="-122"/>
                <a:cs typeface="Calibri" pitchFamily="34" charset="-120"/>
              </a:rPr>
              <a:t>Autonomous Alerts</a:t>
            </a:r>
            <a:endParaRPr lang="en-US" sz="4400" dirty="0"/>
          </a:p>
        </p:txBody>
      </p:sp>
      <p:sp>
        <p:nvSpPr>
          <p:cNvPr id="4" name="Text 2"/>
          <p:cNvSpPr/>
          <p:nvPr/>
        </p:nvSpPr>
        <p:spPr>
          <a:xfrm>
            <a:off x="548640" y="1627632"/>
            <a:ext cx="8046720" cy="365760"/>
          </a:xfrm>
          <a:prstGeom prst="rect">
            <a:avLst/>
          </a:prstGeom>
          <a:noFill/>
          <a:ln/>
        </p:spPr>
        <p:txBody>
          <a:bodyPr wrap="square" lIns="0" tIns="0" rIns="0" bIns="0" rtlCol="0" anchor="ctr"/>
          <a:lstStyle/>
          <a:p>
            <a:pPr indent="0" marL="0">
              <a:buNone/>
            </a:pPr>
            <a:r>
              <a:rPr lang="en-US" sz="1400" dirty="0">
                <a:solidFill>
                  <a:srgbClr val="5C6370"/>
                </a:solidFill>
              </a:rPr>
              <a:t>Scheduled cron job</a:t>
            </a:r>
            <a:endParaRPr lang="en-US" sz="1400" dirty="0"/>
          </a:p>
        </p:txBody>
      </p:sp>
      <p:sp>
        <p:nvSpPr>
          <p:cNvPr id="5" name="Shape 3"/>
          <p:cNvSpPr/>
          <p:nvPr/>
        </p:nvSpPr>
        <p:spPr>
          <a:xfrm>
            <a:off x="548640" y="2084832"/>
            <a:ext cx="8046720" cy="54864"/>
          </a:xfrm>
          <a:prstGeom prst="rect">
            <a:avLst/>
          </a:prstGeom>
          <a:solidFill>
            <a:srgbClr val="C678DD"/>
          </a:solidFill>
          <a:ln w="12700">
            <a:solidFill>
              <a:srgbClr val="C678DD"/>
            </a:solidFill>
            <a:prstDash val="solid"/>
          </a:ln>
        </p:spPr>
      </p:sp>
      <p:sp>
        <p:nvSpPr>
          <p:cNvPr id="6" name="Shape 4"/>
          <p:cNvSpPr/>
          <p:nvPr/>
        </p:nvSpPr>
        <p:spPr>
          <a:xfrm>
            <a:off x="548640" y="2267712"/>
            <a:ext cx="1463040" cy="475488"/>
          </a:xfrm>
          <a:prstGeom prst="rect">
            <a:avLst/>
          </a:prstGeom>
          <a:solidFill>
            <a:srgbClr val="61AFEF"/>
          </a:solidFill>
          <a:ln w="12700">
            <a:solidFill>
              <a:srgbClr val="61AFEF"/>
            </a:solidFill>
            <a:prstDash val="solid"/>
          </a:ln>
        </p:spPr>
      </p:sp>
      <p:sp>
        <p:nvSpPr>
          <p:cNvPr id="7" name="Text 5"/>
          <p:cNvSpPr/>
          <p:nvPr/>
        </p:nvSpPr>
        <p:spPr>
          <a:xfrm>
            <a:off x="548640" y="2267712"/>
            <a:ext cx="1463040" cy="475488"/>
          </a:xfrm>
          <a:prstGeom prst="rect">
            <a:avLst/>
          </a:prstGeom>
          <a:noFill/>
          <a:ln/>
        </p:spPr>
        <p:txBody>
          <a:bodyPr wrap="square" lIns="0" tIns="0" rIns="0" bIns="0" rtlCol="0" anchor="ctr"/>
          <a:lstStyle/>
          <a:p>
            <a:pPr algn="ctr" indent="0" marL="0">
              <a:buNone/>
            </a:pPr>
            <a:r>
              <a:rPr lang="en-US" sz="1200" b="1" dirty="0">
                <a:solidFill>
                  <a:srgbClr val="282C34"/>
                </a:solidFill>
              </a:rPr>
              <a:t>1. Fetch</a:t>
            </a:r>
            <a:endParaRPr lang="en-US" sz="1200" dirty="0"/>
          </a:p>
        </p:txBody>
      </p:sp>
      <p:sp>
        <p:nvSpPr>
          <p:cNvPr id="8" name="Shape 6"/>
          <p:cNvSpPr/>
          <p:nvPr/>
        </p:nvSpPr>
        <p:spPr>
          <a:xfrm>
            <a:off x="2011680" y="2505456"/>
            <a:ext cx="164592" cy="0"/>
          </a:xfrm>
          <a:prstGeom prst="line">
            <a:avLst/>
          </a:prstGeom>
          <a:noFill/>
          <a:ln w="12700">
            <a:solidFill>
              <a:srgbClr val="3E4451"/>
            </a:solidFill>
            <a:prstDash val="solid"/>
            <a:tailEnd type="open"/>
          </a:ln>
        </p:spPr>
      </p:sp>
      <p:sp>
        <p:nvSpPr>
          <p:cNvPr id="9" name="Shape 7"/>
          <p:cNvSpPr/>
          <p:nvPr/>
        </p:nvSpPr>
        <p:spPr>
          <a:xfrm>
            <a:off x="2176272" y="2267712"/>
            <a:ext cx="1463040" cy="475488"/>
          </a:xfrm>
          <a:prstGeom prst="rect">
            <a:avLst/>
          </a:prstGeom>
          <a:solidFill>
            <a:srgbClr val="E5C07B"/>
          </a:solidFill>
          <a:ln w="12700">
            <a:solidFill>
              <a:srgbClr val="E5C07B"/>
            </a:solidFill>
            <a:prstDash val="solid"/>
          </a:ln>
        </p:spPr>
      </p:sp>
      <p:sp>
        <p:nvSpPr>
          <p:cNvPr id="10" name="Text 8"/>
          <p:cNvSpPr/>
          <p:nvPr/>
        </p:nvSpPr>
        <p:spPr>
          <a:xfrm>
            <a:off x="2176272" y="2267712"/>
            <a:ext cx="1463040" cy="475488"/>
          </a:xfrm>
          <a:prstGeom prst="rect">
            <a:avLst/>
          </a:prstGeom>
          <a:noFill/>
          <a:ln/>
        </p:spPr>
        <p:txBody>
          <a:bodyPr wrap="square" lIns="0" tIns="0" rIns="0" bIns="0" rtlCol="0" anchor="ctr"/>
          <a:lstStyle/>
          <a:p>
            <a:pPr algn="ctr" indent="0" marL="0">
              <a:buNone/>
            </a:pPr>
            <a:r>
              <a:rPr lang="en-US" sz="1200" b="1" dirty="0">
                <a:solidFill>
                  <a:srgbClr val="282C34"/>
                </a:solidFill>
              </a:rPr>
              <a:t>2. Classify</a:t>
            </a:r>
            <a:endParaRPr lang="en-US" sz="1200" dirty="0"/>
          </a:p>
        </p:txBody>
      </p:sp>
      <p:sp>
        <p:nvSpPr>
          <p:cNvPr id="11" name="Shape 9"/>
          <p:cNvSpPr/>
          <p:nvPr/>
        </p:nvSpPr>
        <p:spPr>
          <a:xfrm>
            <a:off x="3639312" y="2505456"/>
            <a:ext cx="164592" cy="0"/>
          </a:xfrm>
          <a:prstGeom prst="line">
            <a:avLst/>
          </a:prstGeom>
          <a:noFill/>
          <a:ln w="12700">
            <a:solidFill>
              <a:srgbClr val="3E4451"/>
            </a:solidFill>
            <a:prstDash val="solid"/>
            <a:tailEnd type="open"/>
          </a:ln>
        </p:spPr>
      </p:sp>
      <p:sp>
        <p:nvSpPr>
          <p:cNvPr id="12" name="Shape 10"/>
          <p:cNvSpPr/>
          <p:nvPr/>
        </p:nvSpPr>
        <p:spPr>
          <a:xfrm>
            <a:off x="3803904" y="2267712"/>
            <a:ext cx="1463040" cy="475488"/>
          </a:xfrm>
          <a:prstGeom prst="rect">
            <a:avLst/>
          </a:prstGeom>
          <a:solidFill>
            <a:srgbClr val="C678DD"/>
          </a:solidFill>
          <a:ln w="12700">
            <a:solidFill>
              <a:srgbClr val="C678DD"/>
            </a:solidFill>
            <a:prstDash val="solid"/>
          </a:ln>
        </p:spPr>
      </p:sp>
      <p:sp>
        <p:nvSpPr>
          <p:cNvPr id="13" name="Text 11"/>
          <p:cNvSpPr/>
          <p:nvPr/>
        </p:nvSpPr>
        <p:spPr>
          <a:xfrm>
            <a:off x="3803904" y="2267712"/>
            <a:ext cx="1463040" cy="475488"/>
          </a:xfrm>
          <a:prstGeom prst="rect">
            <a:avLst/>
          </a:prstGeom>
          <a:noFill/>
          <a:ln/>
        </p:spPr>
        <p:txBody>
          <a:bodyPr wrap="square" lIns="0" tIns="0" rIns="0" bIns="0" rtlCol="0" anchor="ctr"/>
          <a:lstStyle/>
          <a:p>
            <a:pPr algn="ctr" indent="0" marL="0">
              <a:buNone/>
            </a:pPr>
            <a:r>
              <a:rPr lang="en-US" sz="1200" b="1" dirty="0">
                <a:solidFill>
                  <a:srgbClr val="282C34"/>
                </a:solidFill>
              </a:rPr>
              <a:t>3. Upsert</a:t>
            </a:r>
            <a:endParaRPr lang="en-US" sz="1200" dirty="0"/>
          </a:p>
        </p:txBody>
      </p:sp>
      <p:sp>
        <p:nvSpPr>
          <p:cNvPr id="14" name="Shape 12"/>
          <p:cNvSpPr/>
          <p:nvPr/>
        </p:nvSpPr>
        <p:spPr>
          <a:xfrm>
            <a:off x="5266944" y="2505456"/>
            <a:ext cx="164592" cy="0"/>
          </a:xfrm>
          <a:prstGeom prst="line">
            <a:avLst/>
          </a:prstGeom>
          <a:noFill/>
          <a:ln w="12700">
            <a:solidFill>
              <a:srgbClr val="3E4451"/>
            </a:solidFill>
            <a:prstDash val="solid"/>
            <a:tailEnd type="open"/>
          </a:ln>
        </p:spPr>
      </p:sp>
      <p:sp>
        <p:nvSpPr>
          <p:cNvPr id="15" name="Shape 13"/>
          <p:cNvSpPr/>
          <p:nvPr/>
        </p:nvSpPr>
        <p:spPr>
          <a:xfrm>
            <a:off x="5431536" y="2267712"/>
            <a:ext cx="1463040" cy="475488"/>
          </a:xfrm>
          <a:prstGeom prst="rect">
            <a:avLst/>
          </a:prstGeom>
          <a:solidFill>
            <a:srgbClr val="E06C75"/>
          </a:solidFill>
          <a:ln w="12700">
            <a:solidFill>
              <a:srgbClr val="E06C75"/>
            </a:solidFill>
            <a:prstDash val="solid"/>
          </a:ln>
        </p:spPr>
      </p:sp>
      <p:sp>
        <p:nvSpPr>
          <p:cNvPr id="16" name="Text 14"/>
          <p:cNvSpPr/>
          <p:nvPr/>
        </p:nvSpPr>
        <p:spPr>
          <a:xfrm>
            <a:off x="5431536" y="2267712"/>
            <a:ext cx="1463040" cy="475488"/>
          </a:xfrm>
          <a:prstGeom prst="rect">
            <a:avLst/>
          </a:prstGeom>
          <a:noFill/>
          <a:ln/>
        </p:spPr>
        <p:txBody>
          <a:bodyPr wrap="square" lIns="0" tIns="0" rIns="0" bIns="0" rtlCol="0" anchor="ctr"/>
          <a:lstStyle/>
          <a:p>
            <a:pPr algn="ctr" indent="0" marL="0">
              <a:buNone/>
            </a:pPr>
            <a:r>
              <a:rPr lang="en-US" sz="1200" b="1" dirty="0">
                <a:solidFill>
                  <a:srgbClr val="282C34"/>
                </a:solidFill>
              </a:rPr>
              <a:t>4. Sync</a:t>
            </a:r>
            <a:endParaRPr lang="en-US" sz="1200" dirty="0"/>
          </a:p>
        </p:txBody>
      </p:sp>
      <p:sp>
        <p:nvSpPr>
          <p:cNvPr id="17" name="Shape 15"/>
          <p:cNvSpPr/>
          <p:nvPr/>
        </p:nvSpPr>
        <p:spPr>
          <a:xfrm>
            <a:off x="6894576" y="2505456"/>
            <a:ext cx="164592" cy="0"/>
          </a:xfrm>
          <a:prstGeom prst="line">
            <a:avLst/>
          </a:prstGeom>
          <a:noFill/>
          <a:ln w="12700">
            <a:solidFill>
              <a:srgbClr val="3E4451"/>
            </a:solidFill>
            <a:prstDash val="solid"/>
            <a:tailEnd type="open"/>
          </a:ln>
        </p:spPr>
      </p:sp>
      <p:sp>
        <p:nvSpPr>
          <p:cNvPr id="18" name="Shape 16"/>
          <p:cNvSpPr/>
          <p:nvPr/>
        </p:nvSpPr>
        <p:spPr>
          <a:xfrm>
            <a:off x="7059168" y="2267712"/>
            <a:ext cx="1463040" cy="475488"/>
          </a:xfrm>
          <a:prstGeom prst="rect">
            <a:avLst/>
          </a:prstGeom>
          <a:solidFill>
            <a:srgbClr val="98C379"/>
          </a:solidFill>
          <a:ln w="12700">
            <a:solidFill>
              <a:srgbClr val="98C379"/>
            </a:solidFill>
            <a:prstDash val="solid"/>
          </a:ln>
        </p:spPr>
      </p:sp>
      <p:sp>
        <p:nvSpPr>
          <p:cNvPr id="19" name="Text 17"/>
          <p:cNvSpPr/>
          <p:nvPr/>
        </p:nvSpPr>
        <p:spPr>
          <a:xfrm>
            <a:off x="7059168" y="2267712"/>
            <a:ext cx="1463040" cy="475488"/>
          </a:xfrm>
          <a:prstGeom prst="rect">
            <a:avLst/>
          </a:prstGeom>
          <a:noFill/>
          <a:ln/>
        </p:spPr>
        <p:txBody>
          <a:bodyPr wrap="square" lIns="0" tIns="0" rIns="0" bIns="0" rtlCol="0" anchor="ctr"/>
          <a:lstStyle/>
          <a:p>
            <a:pPr algn="ctr" indent="0" marL="0">
              <a:buNone/>
            </a:pPr>
            <a:r>
              <a:rPr lang="en-US" sz="1200" b="1" dirty="0">
                <a:solidFill>
                  <a:srgbClr val="282C34"/>
                </a:solidFill>
              </a:rPr>
              <a:t>5. Resolve</a:t>
            </a:r>
            <a:endParaRPr lang="en-US" sz="1200" dirty="0"/>
          </a:p>
        </p:txBody>
      </p:sp>
      <p:sp>
        <p:nvSpPr>
          <p:cNvPr id="20" name="Text 18"/>
          <p:cNvSpPr/>
          <p:nvPr/>
        </p:nvSpPr>
        <p:spPr>
          <a:xfrm>
            <a:off x="548640" y="2871216"/>
            <a:ext cx="8046720" cy="310896"/>
          </a:xfrm>
          <a:prstGeom prst="rect">
            <a:avLst/>
          </a:prstGeom>
          <a:noFill/>
          <a:ln/>
        </p:spPr>
        <p:txBody>
          <a:bodyPr wrap="square" lIns="0" tIns="0" rIns="0" bIns="0" rtlCol="0" anchor="ctr"/>
          <a:lstStyle/>
          <a:p>
            <a:pPr algn="ctr" indent="0" marL="0">
              <a:buNone/>
            </a:pPr>
            <a:r>
              <a:rPr lang="en-US" sz="1100" dirty="0">
                <a:solidFill>
                  <a:srgbClr val="5C6370"/>
                </a:solidFill>
              </a:rPr>
              <a:t>Executes every hour · independent of user activity</a:t>
            </a:r>
            <a:endParaRPr lang="en-US" sz="1100" dirty="0"/>
          </a:p>
        </p:txBody>
      </p:sp>
      <p:sp>
        <p:nvSpPr>
          <p:cNvPr id="21" name="Shape 19"/>
          <p:cNvSpPr/>
          <p:nvPr/>
        </p:nvSpPr>
        <p:spPr>
          <a:xfrm>
            <a:off x="548640" y="3374136"/>
            <a:ext cx="54864" cy="256032"/>
          </a:xfrm>
          <a:prstGeom prst="rect">
            <a:avLst/>
          </a:prstGeom>
          <a:solidFill>
            <a:srgbClr val="56B6C2"/>
          </a:solidFill>
          <a:ln w="12700">
            <a:solidFill>
              <a:srgbClr val="56B6C2"/>
            </a:solidFill>
            <a:prstDash val="solid"/>
          </a:ln>
        </p:spPr>
      </p:sp>
      <p:sp>
        <p:nvSpPr>
          <p:cNvPr id="22" name="Text 20"/>
          <p:cNvSpPr/>
          <p:nvPr/>
        </p:nvSpPr>
        <p:spPr>
          <a:xfrm>
            <a:off x="694944" y="3337560"/>
            <a:ext cx="7900416" cy="329184"/>
          </a:xfrm>
          <a:prstGeom prst="rect">
            <a:avLst/>
          </a:prstGeom>
          <a:noFill/>
          <a:ln/>
        </p:spPr>
        <p:txBody>
          <a:bodyPr wrap="square" lIns="0" tIns="0" rIns="0" bIns="0" rtlCol="0" anchor="ctr"/>
          <a:lstStyle/>
          <a:p>
            <a:pPr indent="0" marL="0">
              <a:buNone/>
            </a:pPr>
            <a:r>
              <a:rPr lang="en-US" sz="1300" dirty="0">
                <a:solidFill>
                  <a:srgbClr val="ABB2BF"/>
                </a:solidFill>
              </a:rPr>
              <a:t>Runs immediately on boot — no 59-minute blind spot after a restart</a:t>
            </a:r>
            <a:endParaRPr lang="en-US" sz="1300" dirty="0"/>
          </a:p>
        </p:txBody>
      </p:sp>
      <p:sp>
        <p:nvSpPr>
          <p:cNvPr id="23" name="Shape 21"/>
          <p:cNvSpPr/>
          <p:nvPr/>
        </p:nvSpPr>
        <p:spPr>
          <a:xfrm>
            <a:off x="548640" y="3813048"/>
            <a:ext cx="54864" cy="256032"/>
          </a:xfrm>
          <a:prstGeom prst="rect">
            <a:avLst/>
          </a:prstGeom>
          <a:solidFill>
            <a:srgbClr val="C678DD"/>
          </a:solidFill>
          <a:ln w="12700">
            <a:solidFill>
              <a:srgbClr val="C678DD"/>
            </a:solidFill>
            <a:prstDash val="solid"/>
          </a:ln>
        </p:spPr>
      </p:sp>
      <p:sp>
        <p:nvSpPr>
          <p:cNvPr id="24" name="Text 22"/>
          <p:cNvSpPr/>
          <p:nvPr/>
        </p:nvSpPr>
        <p:spPr>
          <a:xfrm>
            <a:off x="694944" y="3776472"/>
            <a:ext cx="7900416" cy="329184"/>
          </a:xfrm>
          <a:prstGeom prst="rect">
            <a:avLst/>
          </a:prstGeom>
          <a:noFill/>
          <a:ln/>
        </p:spPr>
        <p:txBody>
          <a:bodyPr wrap="square" lIns="0" tIns="0" rIns="0" bIns="0" rtlCol="0" anchor="ctr"/>
          <a:lstStyle/>
          <a:p>
            <a:pPr indent="0" marL="0">
              <a:buNone/>
            </a:pPr>
            <a:r>
              <a:rPr lang="en-US" sz="1300" dirty="0">
                <a:solidFill>
                  <a:srgbClr val="ABB2BF"/>
                </a:solidFill>
              </a:rPr>
              <a:t>Upserts alerts — delete old, insert fresh. No duplicates ever</a:t>
            </a:r>
            <a:endParaRPr lang="en-US" sz="1300" dirty="0"/>
          </a:p>
        </p:txBody>
      </p:sp>
      <p:sp>
        <p:nvSpPr>
          <p:cNvPr id="25" name="Shape 23"/>
          <p:cNvSpPr/>
          <p:nvPr/>
        </p:nvSpPr>
        <p:spPr>
          <a:xfrm>
            <a:off x="548640" y="4251960"/>
            <a:ext cx="54864" cy="256032"/>
          </a:xfrm>
          <a:prstGeom prst="rect">
            <a:avLst/>
          </a:prstGeom>
          <a:solidFill>
            <a:srgbClr val="98C379"/>
          </a:solidFill>
          <a:ln w="12700">
            <a:solidFill>
              <a:srgbClr val="98C379"/>
            </a:solidFill>
            <a:prstDash val="solid"/>
          </a:ln>
        </p:spPr>
      </p:sp>
      <p:sp>
        <p:nvSpPr>
          <p:cNvPr id="26" name="Text 24"/>
          <p:cNvSpPr/>
          <p:nvPr/>
        </p:nvSpPr>
        <p:spPr>
          <a:xfrm>
            <a:off x="694944" y="4215384"/>
            <a:ext cx="7900416" cy="329184"/>
          </a:xfrm>
          <a:prstGeom prst="rect">
            <a:avLst/>
          </a:prstGeom>
          <a:noFill/>
          <a:ln/>
        </p:spPr>
        <p:txBody>
          <a:bodyPr wrap="square" lIns="0" tIns="0" rIns="0" bIns="0" rtlCol="0" anchor="ctr"/>
          <a:lstStyle/>
          <a:p>
            <a:pPr indent="0" marL="0">
              <a:buNone/>
            </a:pPr>
            <a:r>
              <a:rPr lang="en-US" sz="1300" dirty="0">
                <a:solidFill>
                  <a:srgbClr val="ABB2BF"/>
                </a:solidFill>
              </a:rPr>
              <a:t>Auto-resolves when a machine returns to schedule</a:t>
            </a:r>
            <a:endParaRPr lang="en-US" sz="1300" dirty="0"/>
          </a:p>
        </p:txBody>
      </p:sp>
      <p:sp>
        <p:nvSpPr>
          <p:cNvPr id="27" name="Shape 25"/>
          <p:cNvSpPr/>
          <p:nvPr/>
        </p:nvSpPr>
        <p:spPr>
          <a:xfrm>
            <a:off x="548640" y="4864608"/>
            <a:ext cx="8046720" cy="0"/>
          </a:xfrm>
          <a:prstGeom prst="line">
            <a:avLst/>
          </a:prstGeom>
          <a:noFill/>
          <a:ln w="5080">
            <a:solidFill>
              <a:srgbClr val="3E4451"/>
            </a:solidFill>
            <a:prstDash val="solid"/>
          </a:ln>
        </p:spPr>
      </p:sp>
      <p:sp>
        <p:nvSpPr>
          <p:cNvPr id="28" name="Text 26"/>
          <p:cNvSpPr/>
          <p:nvPr/>
        </p:nvSpPr>
        <p:spPr>
          <a:xfrm>
            <a:off x="548640" y="4901184"/>
            <a:ext cx="6400800" cy="182880"/>
          </a:xfrm>
          <a:prstGeom prst="rect">
            <a:avLst/>
          </a:prstGeom>
          <a:noFill/>
          <a:ln/>
        </p:spPr>
        <p:txBody>
          <a:bodyPr wrap="square" lIns="0" tIns="0" rIns="0" bIns="0" rtlCol="0" anchor="ctr"/>
          <a:lstStyle/>
          <a:p>
            <a:pPr indent="0" marL="0">
              <a:buNone/>
            </a:pPr>
            <a:r>
              <a:rPr lang="en-US" sz="750" dirty="0">
                <a:solidFill>
                  <a:srgbClr val="5C6370"/>
                </a:solidFill>
              </a:rPr>
              <a:t>Machine Maintenance Scheduler  ·  NTT Data Case Study</a:t>
            </a:r>
            <a:endParaRPr lang="en-US" sz="750" dirty="0"/>
          </a:p>
        </p:txBody>
      </p:sp>
      <p:sp>
        <p:nvSpPr>
          <p:cNvPr id="29" name="Text 27"/>
          <p:cNvSpPr/>
          <p:nvPr/>
        </p:nvSpPr>
        <p:spPr>
          <a:xfrm>
            <a:off x="6858000" y="4901184"/>
            <a:ext cx="1920240" cy="182880"/>
          </a:xfrm>
          <a:prstGeom prst="rect">
            <a:avLst/>
          </a:prstGeom>
          <a:noFill/>
          <a:ln/>
        </p:spPr>
        <p:txBody>
          <a:bodyPr wrap="square" lIns="0" tIns="0" rIns="0" bIns="0" rtlCol="0" anchor="ctr"/>
          <a:lstStyle/>
          <a:p>
            <a:pPr algn="r" indent="0" marL="0">
              <a:buNone/>
            </a:pPr>
            <a:r>
              <a:rPr lang="en-US" sz="750" dirty="0">
                <a:solidFill>
                  <a:srgbClr val="5C6370"/>
                </a:solidFill>
              </a:rPr>
              <a:t>Suraj Karthikeyan</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82C3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1252B"/>
          </a:solidFill>
          <a:ln w="12700">
            <a:solidFill>
              <a:srgbClr val="21252B"/>
            </a:solidFill>
            <a:prstDash val="solid"/>
          </a:ln>
        </p:spPr>
      </p:sp>
      <p:sp>
        <p:nvSpPr>
          <p:cNvPr id="3" name="Shape 1"/>
          <p:cNvSpPr/>
          <p:nvPr/>
        </p:nvSpPr>
        <p:spPr>
          <a:xfrm>
            <a:off x="2926080" y="1463040"/>
            <a:ext cx="3291840" cy="54864"/>
          </a:xfrm>
          <a:prstGeom prst="rect">
            <a:avLst/>
          </a:prstGeom>
          <a:solidFill>
            <a:srgbClr val="56B6C2"/>
          </a:solidFill>
          <a:ln w="12700">
            <a:solidFill>
              <a:srgbClr val="56B6C2"/>
            </a:solidFill>
            <a:prstDash val="solid"/>
          </a:ln>
        </p:spPr>
      </p:sp>
      <p:sp>
        <p:nvSpPr>
          <p:cNvPr id="4" name="Text 2"/>
          <p:cNvSpPr/>
          <p:nvPr/>
        </p:nvSpPr>
        <p:spPr>
          <a:xfrm>
            <a:off x="0" y="1600200"/>
            <a:ext cx="9144000" cy="1005840"/>
          </a:xfrm>
          <a:prstGeom prst="rect">
            <a:avLst/>
          </a:prstGeom>
          <a:noFill/>
          <a:ln/>
        </p:spPr>
        <p:txBody>
          <a:bodyPr wrap="square" lIns="0" tIns="0" rIns="0" bIns="0" rtlCol="0" anchor="ctr"/>
          <a:lstStyle/>
          <a:p>
            <a:pPr algn="ctr" indent="0" marL="0">
              <a:buNone/>
            </a:pPr>
            <a:r>
              <a:rPr lang="en-US" sz="5800" b="1" dirty="0">
                <a:solidFill>
                  <a:srgbClr val="DCDFE4"/>
                </a:solidFill>
                <a:latin typeface="Calibri" pitchFamily="34" charset="0"/>
                <a:ea typeface="Calibri" pitchFamily="34" charset="-122"/>
                <a:cs typeface="Calibri" pitchFamily="34" charset="-120"/>
              </a:rPr>
              <a:t>LIVE DEMO</a:t>
            </a:r>
            <a:endParaRPr lang="en-US" sz="5800" dirty="0"/>
          </a:p>
        </p:txBody>
      </p:sp>
      <p:sp>
        <p:nvSpPr>
          <p:cNvPr id="5" name="Shape 3"/>
          <p:cNvSpPr/>
          <p:nvPr/>
        </p:nvSpPr>
        <p:spPr>
          <a:xfrm>
            <a:off x="2926080" y="2697480"/>
            <a:ext cx="3291840" cy="54864"/>
          </a:xfrm>
          <a:prstGeom prst="rect">
            <a:avLst/>
          </a:prstGeom>
          <a:solidFill>
            <a:srgbClr val="56B6C2"/>
          </a:solidFill>
          <a:ln w="12700">
            <a:solidFill>
              <a:srgbClr val="56B6C2"/>
            </a:solidFill>
            <a:prstDash val="solid"/>
          </a:ln>
        </p:spPr>
      </p:sp>
      <p:sp>
        <p:nvSpPr>
          <p:cNvPr id="6" name="Text 4"/>
          <p:cNvSpPr/>
          <p:nvPr/>
        </p:nvSpPr>
        <p:spPr>
          <a:xfrm>
            <a:off x="2011680" y="2926080"/>
            <a:ext cx="5120640" cy="365760"/>
          </a:xfrm>
          <a:prstGeom prst="rect">
            <a:avLst/>
          </a:prstGeom>
          <a:noFill/>
          <a:ln/>
        </p:spPr>
        <p:txBody>
          <a:bodyPr wrap="square" lIns="0" tIns="0" rIns="0" bIns="0" rtlCol="0" anchor="ctr"/>
          <a:lstStyle/>
          <a:p>
            <a:pPr algn="ctr" indent="0" marL="0">
              <a:buNone/>
            </a:pPr>
            <a:r>
              <a:rPr lang="en-US" sz="1200" dirty="0">
                <a:solidFill>
                  <a:srgbClr val="ABB2BF"/>
                </a:solidFill>
              </a:rPr>
              <a:t>1.  Login as admin  →  dashboard overview</a:t>
            </a:r>
            <a:endParaRPr lang="en-US" sz="1200" dirty="0"/>
          </a:p>
        </p:txBody>
      </p:sp>
      <p:sp>
        <p:nvSpPr>
          <p:cNvPr id="7" name="Text 5"/>
          <p:cNvSpPr/>
          <p:nvPr/>
        </p:nvSpPr>
        <p:spPr>
          <a:xfrm>
            <a:off x="2011680" y="3328416"/>
            <a:ext cx="5120640" cy="365760"/>
          </a:xfrm>
          <a:prstGeom prst="rect">
            <a:avLst/>
          </a:prstGeom>
          <a:noFill/>
          <a:ln/>
        </p:spPr>
        <p:txBody>
          <a:bodyPr wrap="square" lIns="0" tIns="0" rIns="0" bIns="0" rtlCol="0" anchor="ctr"/>
          <a:lstStyle/>
          <a:p>
            <a:pPr algn="ctr" indent="0" marL="0">
              <a:buNone/>
            </a:pPr>
            <a:r>
              <a:rPr lang="en-US" sz="1200" dirty="0">
                <a:solidFill>
                  <a:srgbClr val="ABB2BF"/>
                </a:solidFill>
              </a:rPr>
              <a:t>2.  Schedule a task  →  watch machine status change live</a:t>
            </a:r>
            <a:endParaRPr lang="en-US" sz="1200" dirty="0"/>
          </a:p>
        </p:txBody>
      </p:sp>
      <p:sp>
        <p:nvSpPr>
          <p:cNvPr id="8" name="Text 6"/>
          <p:cNvSpPr/>
          <p:nvPr/>
        </p:nvSpPr>
        <p:spPr>
          <a:xfrm>
            <a:off x="2011680" y="3730752"/>
            <a:ext cx="5120640" cy="365760"/>
          </a:xfrm>
          <a:prstGeom prst="rect">
            <a:avLst/>
          </a:prstGeom>
          <a:noFill/>
          <a:ln/>
        </p:spPr>
        <p:txBody>
          <a:bodyPr wrap="square" lIns="0" tIns="0" rIns="0" bIns="0" rtlCol="0" anchor="ctr"/>
          <a:lstStyle/>
          <a:p>
            <a:pPr algn="ctr" indent="0" marL="0">
              <a:buNone/>
            </a:pPr>
            <a:r>
              <a:rPr lang="en-US" sz="1200" dirty="0">
                <a:solidFill>
                  <a:srgbClr val="ABB2BF"/>
                </a:solidFill>
              </a:rPr>
              <a:t>3.  Switch to technician  →  confirm restricted access</a:t>
            </a:r>
            <a:endParaRPr lang="en-US" sz="1200" dirty="0"/>
          </a:p>
        </p:txBody>
      </p:sp>
      <p:sp>
        <p:nvSpPr>
          <p:cNvPr id="9" name="Text 7"/>
          <p:cNvSpPr/>
          <p:nvPr/>
        </p:nvSpPr>
        <p:spPr>
          <a:xfrm>
            <a:off x="2011680" y="4133088"/>
            <a:ext cx="5120640" cy="365760"/>
          </a:xfrm>
          <a:prstGeom prst="rect">
            <a:avLst/>
          </a:prstGeom>
          <a:noFill/>
          <a:ln/>
        </p:spPr>
        <p:txBody>
          <a:bodyPr wrap="square" lIns="0" tIns="0" rIns="0" bIns="0" rtlCol="0" anchor="ctr"/>
          <a:lstStyle/>
          <a:p>
            <a:pPr algn="ctr" indent="0" marL="0">
              <a:buNone/>
            </a:pPr>
            <a:r>
              <a:rPr lang="en-US" sz="1200" dirty="0">
                <a:solidFill>
                  <a:srgbClr val="ABB2BF"/>
                </a:solidFill>
              </a:rPr>
              <a:t>4.  Trigger alert check  →  see cron results immediately</a:t>
            </a:r>
            <a:endParaRPr lang="en-US" sz="1200" dirty="0"/>
          </a:p>
        </p:txBody>
      </p:sp>
      <p:sp>
        <p:nvSpPr>
          <p:cNvPr id="10" name="Text 8"/>
          <p:cNvSpPr/>
          <p:nvPr/>
        </p:nvSpPr>
        <p:spPr>
          <a:xfrm>
            <a:off x="0" y="4709160"/>
            <a:ext cx="9144000" cy="256032"/>
          </a:xfrm>
          <a:prstGeom prst="rect">
            <a:avLst/>
          </a:prstGeom>
          <a:noFill/>
          <a:ln/>
        </p:spPr>
        <p:txBody>
          <a:bodyPr wrap="square" lIns="0" tIns="0" rIns="0" bIns="0" rtlCol="0" anchor="ctr"/>
          <a:lstStyle/>
          <a:p>
            <a:pPr algn="ctr" indent="0" marL="0">
              <a:buNone/>
            </a:pPr>
            <a:r>
              <a:rPr lang="en-US" sz="1000" dirty="0">
                <a:solidFill>
                  <a:srgbClr val="5C6370"/>
                </a:solidFill>
                <a:latin typeface="Consolas" pitchFamily="34" charset="0"/>
                <a:ea typeface="Consolas" pitchFamily="34" charset="-122"/>
                <a:cs typeface="Consolas" pitchFamily="34" charset="-120"/>
              </a:rPr>
              <a:t>machine-scheduler-deployment.up.railway.app</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82C34"/>
        </a:solidFill>
      </p:bgPr>
    </p:bg>
    <p:spTree>
      <p:nvGrpSpPr>
        <p:cNvPr id="1" name=""/>
        <p:cNvGrpSpPr/>
        <p:nvPr/>
      </p:nvGrpSpPr>
      <p:grpSpPr>
        <a:xfrm>
          <a:off x="0" y="0"/>
          <a:ext cx="0" cy="0"/>
          <a:chOff x="0" y="0"/>
          <a:chExt cx="0" cy="0"/>
        </a:xfrm>
      </p:grpSpPr>
      <p:sp>
        <p:nvSpPr>
          <p:cNvPr id="2" name="Text 0"/>
          <p:cNvSpPr/>
          <p:nvPr/>
        </p:nvSpPr>
        <p:spPr>
          <a:xfrm>
            <a:off x="548640" y="201168"/>
            <a:ext cx="8229600" cy="237744"/>
          </a:xfrm>
          <a:prstGeom prst="rect">
            <a:avLst/>
          </a:prstGeom>
          <a:noFill/>
          <a:ln/>
        </p:spPr>
        <p:txBody>
          <a:bodyPr wrap="square" lIns="0" tIns="0" rIns="0" bIns="0" rtlCol="0" anchor="ctr"/>
          <a:lstStyle/>
          <a:p>
            <a:pPr indent="0" marL="0">
              <a:buNone/>
            </a:pPr>
            <a:r>
              <a:rPr lang="en-US" sz="800" b="1" spc="300" kern="0" dirty="0">
                <a:solidFill>
                  <a:srgbClr val="56B6C2"/>
                </a:solidFill>
              </a:rPr>
              <a:t>DESIGN RATIONALE</a:t>
            </a:r>
            <a:endParaRPr lang="en-US" sz="800" dirty="0"/>
          </a:p>
        </p:txBody>
      </p:sp>
      <p:sp>
        <p:nvSpPr>
          <p:cNvPr id="3" name="Text 1"/>
          <p:cNvSpPr/>
          <p:nvPr/>
        </p:nvSpPr>
        <p:spPr>
          <a:xfrm>
            <a:off x="548640" y="502920"/>
            <a:ext cx="8046720" cy="685800"/>
          </a:xfrm>
          <a:prstGeom prst="rect">
            <a:avLst/>
          </a:prstGeom>
          <a:noFill/>
          <a:ln/>
        </p:spPr>
        <p:txBody>
          <a:bodyPr wrap="square" lIns="0" tIns="0" rIns="0" bIns="0" rtlCol="0" anchor="ctr"/>
          <a:lstStyle/>
          <a:p>
            <a:pPr indent="0" marL="0">
              <a:buNone/>
            </a:pPr>
            <a:r>
              <a:rPr lang="en-US" sz="3600" b="1" dirty="0">
                <a:solidFill>
                  <a:srgbClr val="DCDFE4"/>
                </a:solidFill>
                <a:latin typeface="Calibri" pitchFamily="34" charset="0"/>
                <a:ea typeface="Calibri" pitchFamily="34" charset="-122"/>
                <a:cs typeface="Calibri" pitchFamily="34" charset="-120"/>
              </a:rPr>
              <a:t>Key technical decisions</a:t>
            </a:r>
            <a:endParaRPr lang="en-US" sz="3600" dirty="0"/>
          </a:p>
        </p:txBody>
      </p:sp>
      <p:sp>
        <p:nvSpPr>
          <p:cNvPr id="4" name="Shape 2"/>
          <p:cNvSpPr/>
          <p:nvPr/>
        </p:nvSpPr>
        <p:spPr>
          <a:xfrm>
            <a:off x="548640" y="4864608"/>
            <a:ext cx="8046720" cy="0"/>
          </a:xfrm>
          <a:prstGeom prst="line">
            <a:avLst/>
          </a:prstGeom>
          <a:noFill/>
          <a:ln w="5080">
            <a:solidFill>
              <a:srgbClr val="3E4451"/>
            </a:solidFill>
            <a:prstDash val="solid"/>
          </a:ln>
        </p:spPr>
      </p:sp>
      <p:sp>
        <p:nvSpPr>
          <p:cNvPr id="5" name="Text 3"/>
          <p:cNvSpPr/>
          <p:nvPr/>
        </p:nvSpPr>
        <p:spPr>
          <a:xfrm>
            <a:off x="548640" y="4901184"/>
            <a:ext cx="6400800" cy="182880"/>
          </a:xfrm>
          <a:prstGeom prst="rect">
            <a:avLst/>
          </a:prstGeom>
          <a:noFill/>
          <a:ln/>
        </p:spPr>
        <p:txBody>
          <a:bodyPr wrap="square" lIns="0" tIns="0" rIns="0" bIns="0" rtlCol="0" anchor="ctr"/>
          <a:lstStyle/>
          <a:p>
            <a:pPr indent="0" marL="0">
              <a:buNone/>
            </a:pPr>
            <a:r>
              <a:rPr lang="en-US" sz="750" dirty="0">
                <a:solidFill>
                  <a:srgbClr val="5C6370"/>
                </a:solidFill>
              </a:rPr>
              <a:t>Machine Maintenance Scheduler  ·  NTT Data Case Study</a:t>
            </a:r>
            <a:endParaRPr lang="en-US" sz="750" dirty="0"/>
          </a:p>
        </p:txBody>
      </p:sp>
      <p:sp>
        <p:nvSpPr>
          <p:cNvPr id="6" name="Text 4"/>
          <p:cNvSpPr/>
          <p:nvPr/>
        </p:nvSpPr>
        <p:spPr>
          <a:xfrm>
            <a:off x="6858000" y="4901184"/>
            <a:ext cx="1920240" cy="182880"/>
          </a:xfrm>
          <a:prstGeom prst="rect">
            <a:avLst/>
          </a:prstGeom>
          <a:noFill/>
          <a:ln/>
        </p:spPr>
        <p:txBody>
          <a:bodyPr wrap="square" lIns="0" tIns="0" rIns="0" bIns="0" rtlCol="0" anchor="ctr"/>
          <a:lstStyle/>
          <a:p>
            <a:pPr algn="r" indent="0" marL="0">
              <a:buNone/>
            </a:pPr>
            <a:r>
              <a:rPr lang="en-US" sz="750" dirty="0">
                <a:solidFill>
                  <a:srgbClr val="5C6370"/>
                </a:solidFill>
              </a:rPr>
              <a:t>Suraj Karthikeyan</a:t>
            </a:r>
            <a:endParaRPr lang="en-US" sz="750" dirty="0"/>
          </a:p>
        </p:txBody>
      </p:sp>
      <p:sp>
        <p:nvSpPr>
          <p:cNvPr id="7" name="Shape 5"/>
          <p:cNvSpPr/>
          <p:nvPr/>
        </p:nvSpPr>
        <p:spPr>
          <a:xfrm>
            <a:off x="548640" y="1325880"/>
            <a:ext cx="54864" cy="658368"/>
          </a:xfrm>
          <a:prstGeom prst="rect">
            <a:avLst/>
          </a:prstGeom>
          <a:solidFill>
            <a:srgbClr val="56B6C2"/>
          </a:solidFill>
          <a:ln w="12700">
            <a:solidFill>
              <a:srgbClr val="56B6C2"/>
            </a:solidFill>
            <a:prstDash val="solid"/>
          </a:ln>
        </p:spPr>
      </p:sp>
      <p:sp>
        <p:nvSpPr>
          <p:cNvPr id="8" name="Text 6"/>
          <p:cNvSpPr/>
          <p:nvPr/>
        </p:nvSpPr>
        <p:spPr>
          <a:xfrm>
            <a:off x="749808" y="1362456"/>
            <a:ext cx="7863840" cy="310896"/>
          </a:xfrm>
          <a:prstGeom prst="rect">
            <a:avLst/>
          </a:prstGeom>
          <a:noFill/>
          <a:ln/>
        </p:spPr>
        <p:txBody>
          <a:bodyPr wrap="square" lIns="0" tIns="0" rIns="0" bIns="0" rtlCol="0" anchor="ctr"/>
          <a:lstStyle/>
          <a:p>
            <a:pPr indent="0" marL="0">
              <a:buNone/>
            </a:pPr>
            <a:r>
              <a:rPr lang="en-US" sz="1300" b="1" dirty="0">
                <a:solidFill>
                  <a:srgbClr val="56B6C2"/>
                </a:solidFill>
              </a:rPr>
              <a:t>Why express-http-proxy?</a:t>
            </a:r>
            <a:endParaRPr lang="en-US" sz="1300" dirty="0"/>
          </a:p>
        </p:txBody>
      </p:sp>
      <p:sp>
        <p:nvSpPr>
          <p:cNvPr id="9" name="Text 7"/>
          <p:cNvSpPr/>
          <p:nvPr/>
        </p:nvSpPr>
        <p:spPr>
          <a:xfrm>
            <a:off x="749808" y="1673352"/>
            <a:ext cx="7863840" cy="274320"/>
          </a:xfrm>
          <a:prstGeom prst="rect">
            <a:avLst/>
          </a:prstGeom>
          <a:noFill/>
          <a:ln/>
        </p:spPr>
        <p:txBody>
          <a:bodyPr wrap="square" lIns="0" tIns="0" rIns="0" bIns="0" rtlCol="0" anchor="ctr"/>
          <a:lstStyle/>
          <a:p>
            <a:pPr indent="0" marL="0">
              <a:buNone/>
            </a:pPr>
            <a:r>
              <a:rPr lang="en-US" sz="1100" dirty="0">
                <a:solidFill>
                  <a:srgbClr val="ABB2BF"/>
                </a:solidFill>
              </a:rPr>
              <a:t>Provides proxyReqOptDecorator — fine-grained control to modify headers before forwarding, essential for preserving the JWT</a:t>
            </a:r>
            <a:endParaRPr lang="en-US" sz="1100" dirty="0"/>
          </a:p>
        </p:txBody>
      </p:sp>
      <p:sp>
        <p:nvSpPr>
          <p:cNvPr id="10" name="Shape 8"/>
          <p:cNvSpPr/>
          <p:nvPr/>
        </p:nvSpPr>
        <p:spPr>
          <a:xfrm>
            <a:off x="548640" y="2167128"/>
            <a:ext cx="54864" cy="658368"/>
          </a:xfrm>
          <a:prstGeom prst="rect">
            <a:avLst/>
          </a:prstGeom>
          <a:solidFill>
            <a:srgbClr val="C678DD"/>
          </a:solidFill>
          <a:ln w="12700">
            <a:solidFill>
              <a:srgbClr val="C678DD"/>
            </a:solidFill>
            <a:prstDash val="solid"/>
          </a:ln>
        </p:spPr>
      </p:sp>
      <p:sp>
        <p:nvSpPr>
          <p:cNvPr id="11" name="Text 9"/>
          <p:cNvSpPr/>
          <p:nvPr/>
        </p:nvSpPr>
        <p:spPr>
          <a:xfrm>
            <a:off x="749808" y="2203704"/>
            <a:ext cx="7863840" cy="310896"/>
          </a:xfrm>
          <a:prstGeom prst="rect">
            <a:avLst/>
          </a:prstGeom>
          <a:noFill/>
          <a:ln/>
        </p:spPr>
        <p:txBody>
          <a:bodyPr wrap="square" lIns="0" tIns="0" rIns="0" bIns="0" rtlCol="0" anchor="ctr"/>
          <a:lstStyle/>
          <a:p>
            <a:pPr indent="0" marL="0">
              <a:buNone/>
            </a:pPr>
            <a:r>
              <a:rPr lang="en-US" sz="1300" b="1" dirty="0">
                <a:solidFill>
                  <a:srgbClr val="C678DD"/>
                </a:solidFill>
              </a:rPr>
              <a:t>Why compute days_overdue in SQL?</a:t>
            </a:r>
            <a:endParaRPr lang="en-US" sz="1300" dirty="0"/>
          </a:p>
        </p:txBody>
      </p:sp>
      <p:sp>
        <p:nvSpPr>
          <p:cNvPr id="12" name="Text 10"/>
          <p:cNvSpPr/>
          <p:nvPr/>
        </p:nvSpPr>
        <p:spPr>
          <a:xfrm>
            <a:off x="749808" y="2514600"/>
            <a:ext cx="7863840" cy="274320"/>
          </a:xfrm>
          <a:prstGeom prst="rect">
            <a:avLst/>
          </a:prstGeom>
          <a:noFill/>
          <a:ln/>
        </p:spPr>
        <p:txBody>
          <a:bodyPr wrap="square" lIns="0" tIns="0" rIns="0" bIns="0" rtlCol="0" anchor="ctr"/>
          <a:lstStyle/>
          <a:p>
            <a:pPr indent="0" marL="0">
              <a:buNone/>
            </a:pPr>
            <a:r>
              <a:rPr lang="en-US" sz="1100" dirty="0">
                <a:solidFill>
                  <a:srgbClr val="ABB2BF"/>
                </a:solidFill>
              </a:rPr>
              <a:t>Always accurate — no sync job, no stale data, ever</a:t>
            </a:r>
            <a:endParaRPr lang="en-US" sz="1100" dirty="0"/>
          </a:p>
        </p:txBody>
      </p:sp>
      <p:sp>
        <p:nvSpPr>
          <p:cNvPr id="13" name="Shape 11"/>
          <p:cNvSpPr/>
          <p:nvPr/>
        </p:nvSpPr>
        <p:spPr>
          <a:xfrm>
            <a:off x="548640" y="3008376"/>
            <a:ext cx="54864" cy="658368"/>
          </a:xfrm>
          <a:prstGeom prst="rect">
            <a:avLst/>
          </a:prstGeom>
          <a:solidFill>
            <a:srgbClr val="E5C07B"/>
          </a:solidFill>
          <a:ln w="12700">
            <a:solidFill>
              <a:srgbClr val="E5C07B"/>
            </a:solidFill>
            <a:prstDash val="solid"/>
          </a:ln>
        </p:spPr>
      </p:sp>
      <p:sp>
        <p:nvSpPr>
          <p:cNvPr id="14" name="Text 12"/>
          <p:cNvSpPr/>
          <p:nvPr/>
        </p:nvSpPr>
        <p:spPr>
          <a:xfrm>
            <a:off x="749808" y="3044952"/>
            <a:ext cx="7863840" cy="310896"/>
          </a:xfrm>
          <a:prstGeom prst="rect">
            <a:avLst/>
          </a:prstGeom>
          <a:noFill/>
          <a:ln/>
        </p:spPr>
        <p:txBody>
          <a:bodyPr wrap="square" lIns="0" tIns="0" rIns="0" bIns="0" rtlCol="0" anchor="ctr"/>
          <a:lstStyle/>
          <a:p>
            <a:pPr indent="0" marL="0">
              <a:buNone/>
            </a:pPr>
            <a:r>
              <a:rPr lang="en-US" sz="1300" b="1" dirty="0">
                <a:solidFill>
                  <a:srgbClr val="E5C07B"/>
                </a:solidFill>
              </a:rPr>
              <a:t>Why run the cron on startup too?</a:t>
            </a:r>
            <a:endParaRPr lang="en-US" sz="1300" dirty="0"/>
          </a:p>
        </p:txBody>
      </p:sp>
      <p:sp>
        <p:nvSpPr>
          <p:cNvPr id="15" name="Text 13"/>
          <p:cNvSpPr/>
          <p:nvPr/>
        </p:nvSpPr>
        <p:spPr>
          <a:xfrm>
            <a:off x="749808" y="3355848"/>
            <a:ext cx="7863840" cy="274320"/>
          </a:xfrm>
          <a:prstGeom prst="rect">
            <a:avLst/>
          </a:prstGeom>
          <a:noFill/>
          <a:ln/>
        </p:spPr>
        <p:txBody>
          <a:bodyPr wrap="square" lIns="0" tIns="0" rIns="0" bIns="0" rtlCol="0" anchor="ctr"/>
          <a:lstStyle/>
          <a:p>
            <a:pPr indent="0" marL="0">
              <a:buNone/>
            </a:pPr>
            <a:r>
              <a:rPr lang="en-US" sz="1100" dirty="0">
                <a:solidFill>
                  <a:srgbClr val="ABB2BF"/>
                </a:solidFill>
              </a:rPr>
              <a:t>Prevents a 59-minute alert gap after every service restart</a:t>
            </a:r>
            <a:endParaRPr lang="en-US" sz="1100" dirty="0"/>
          </a:p>
        </p:txBody>
      </p:sp>
      <p:sp>
        <p:nvSpPr>
          <p:cNvPr id="16" name="Shape 14"/>
          <p:cNvSpPr/>
          <p:nvPr/>
        </p:nvSpPr>
        <p:spPr>
          <a:xfrm>
            <a:off x="548640" y="3849624"/>
            <a:ext cx="54864" cy="658368"/>
          </a:xfrm>
          <a:prstGeom prst="rect">
            <a:avLst/>
          </a:prstGeom>
          <a:solidFill>
            <a:srgbClr val="61AFEF"/>
          </a:solidFill>
          <a:ln w="12700">
            <a:solidFill>
              <a:srgbClr val="61AFEF"/>
            </a:solidFill>
            <a:prstDash val="solid"/>
          </a:ln>
        </p:spPr>
      </p:sp>
      <p:sp>
        <p:nvSpPr>
          <p:cNvPr id="17" name="Text 15"/>
          <p:cNvSpPr/>
          <p:nvPr/>
        </p:nvSpPr>
        <p:spPr>
          <a:xfrm>
            <a:off x="749808" y="3886200"/>
            <a:ext cx="7863840" cy="310896"/>
          </a:xfrm>
          <a:prstGeom prst="rect">
            <a:avLst/>
          </a:prstGeom>
          <a:noFill/>
          <a:ln/>
        </p:spPr>
        <p:txBody>
          <a:bodyPr wrap="square" lIns="0" tIns="0" rIns="0" bIns="0" rtlCol="0" anchor="ctr"/>
          <a:lstStyle/>
          <a:p>
            <a:pPr indent="0" marL="0">
              <a:buNone/>
            </a:pPr>
            <a:r>
              <a:rPr lang="en-US" sz="1300" b="1" dirty="0">
                <a:solidFill>
                  <a:srgbClr val="61AFEF"/>
                </a:solidFill>
              </a:rPr>
              <a:t>Why the same error for wrong user/password?</a:t>
            </a:r>
            <a:endParaRPr lang="en-US" sz="1300" dirty="0"/>
          </a:p>
        </p:txBody>
      </p:sp>
      <p:sp>
        <p:nvSpPr>
          <p:cNvPr id="18" name="Text 16"/>
          <p:cNvSpPr/>
          <p:nvPr/>
        </p:nvSpPr>
        <p:spPr>
          <a:xfrm>
            <a:off x="749808" y="4197096"/>
            <a:ext cx="7863840" cy="274320"/>
          </a:xfrm>
          <a:prstGeom prst="rect">
            <a:avLst/>
          </a:prstGeom>
          <a:noFill/>
          <a:ln/>
        </p:spPr>
        <p:txBody>
          <a:bodyPr wrap="square" lIns="0" tIns="0" rIns="0" bIns="0" rtlCol="0" anchor="ctr"/>
          <a:lstStyle/>
          <a:p>
            <a:pPr indent="0" marL="0">
              <a:buNone/>
            </a:pPr>
            <a:r>
              <a:rPr lang="en-US" sz="1100" dirty="0">
                <a:solidFill>
                  <a:srgbClr val="ABB2BF"/>
                </a:solidFill>
              </a:rPr>
              <a:t>Different messages let attackers enumerate valid usernames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82C34"/>
        </a:solidFill>
      </p:bgPr>
    </p:bg>
    <p:spTree>
      <p:nvGrpSpPr>
        <p:cNvPr id="1" name=""/>
        <p:cNvGrpSpPr/>
        <p:nvPr/>
      </p:nvGrpSpPr>
      <p:grpSpPr>
        <a:xfrm>
          <a:off x="0" y="0"/>
          <a:ext cx="0" cy="0"/>
          <a:chOff x="0" y="0"/>
          <a:chExt cx="0" cy="0"/>
        </a:xfrm>
      </p:grpSpPr>
      <p:sp>
        <p:nvSpPr>
          <p:cNvPr id="2" name="Text 0"/>
          <p:cNvSpPr/>
          <p:nvPr/>
        </p:nvSpPr>
        <p:spPr>
          <a:xfrm>
            <a:off x="548640" y="201168"/>
            <a:ext cx="8229600" cy="237744"/>
          </a:xfrm>
          <a:prstGeom prst="rect">
            <a:avLst/>
          </a:prstGeom>
          <a:noFill/>
          <a:ln/>
        </p:spPr>
        <p:txBody>
          <a:bodyPr wrap="square" lIns="0" tIns="0" rIns="0" bIns="0" rtlCol="0" anchor="ctr"/>
          <a:lstStyle/>
          <a:p>
            <a:pPr indent="0" marL="0">
              <a:buNone/>
            </a:pPr>
            <a:r>
              <a:rPr lang="en-US" sz="800" b="1" spc="300" kern="0" dirty="0">
                <a:solidFill>
                  <a:srgbClr val="56B6C2"/>
                </a:solidFill>
              </a:rPr>
              <a:t>IMPLEMENTATION CHALLENGES</a:t>
            </a:r>
            <a:endParaRPr lang="en-US" sz="800" dirty="0"/>
          </a:p>
        </p:txBody>
      </p:sp>
      <p:sp>
        <p:nvSpPr>
          <p:cNvPr id="3" name="Text 1"/>
          <p:cNvSpPr/>
          <p:nvPr/>
        </p:nvSpPr>
        <p:spPr>
          <a:xfrm>
            <a:off x="548640" y="502920"/>
            <a:ext cx="8046720" cy="685800"/>
          </a:xfrm>
          <a:prstGeom prst="rect">
            <a:avLst/>
          </a:prstGeom>
          <a:noFill/>
          <a:ln/>
        </p:spPr>
        <p:txBody>
          <a:bodyPr wrap="square" lIns="0" tIns="0" rIns="0" bIns="0" rtlCol="0" anchor="ctr"/>
          <a:lstStyle/>
          <a:p>
            <a:pPr indent="0" marL="0">
              <a:buNone/>
            </a:pPr>
            <a:r>
              <a:rPr lang="en-US" sz="3600" b="1" dirty="0">
                <a:solidFill>
                  <a:srgbClr val="DCDFE4"/>
                </a:solidFill>
                <a:latin typeface="Calibri" pitchFamily="34" charset="0"/>
                <a:ea typeface="Calibri" pitchFamily="34" charset="-122"/>
                <a:cs typeface="Calibri" pitchFamily="34" charset="-120"/>
              </a:rPr>
              <a:t>Obstacles encountered and resolved</a:t>
            </a:r>
            <a:endParaRPr lang="en-US" sz="3600" dirty="0"/>
          </a:p>
        </p:txBody>
      </p:sp>
      <p:sp>
        <p:nvSpPr>
          <p:cNvPr id="4" name="Shape 2"/>
          <p:cNvSpPr/>
          <p:nvPr/>
        </p:nvSpPr>
        <p:spPr>
          <a:xfrm>
            <a:off x="548640" y="4864608"/>
            <a:ext cx="8046720" cy="0"/>
          </a:xfrm>
          <a:prstGeom prst="line">
            <a:avLst/>
          </a:prstGeom>
          <a:noFill/>
          <a:ln w="5080">
            <a:solidFill>
              <a:srgbClr val="3E4451"/>
            </a:solidFill>
            <a:prstDash val="solid"/>
          </a:ln>
        </p:spPr>
      </p:sp>
      <p:sp>
        <p:nvSpPr>
          <p:cNvPr id="5" name="Text 3"/>
          <p:cNvSpPr/>
          <p:nvPr/>
        </p:nvSpPr>
        <p:spPr>
          <a:xfrm>
            <a:off x="548640" y="4901184"/>
            <a:ext cx="6400800" cy="182880"/>
          </a:xfrm>
          <a:prstGeom prst="rect">
            <a:avLst/>
          </a:prstGeom>
          <a:noFill/>
          <a:ln/>
        </p:spPr>
        <p:txBody>
          <a:bodyPr wrap="square" lIns="0" tIns="0" rIns="0" bIns="0" rtlCol="0" anchor="ctr"/>
          <a:lstStyle/>
          <a:p>
            <a:pPr indent="0" marL="0">
              <a:buNone/>
            </a:pPr>
            <a:r>
              <a:rPr lang="en-US" sz="750" dirty="0">
                <a:solidFill>
                  <a:srgbClr val="5C6370"/>
                </a:solidFill>
              </a:rPr>
              <a:t>Machine Maintenance Scheduler  ·  NTT Data Case Study</a:t>
            </a:r>
            <a:endParaRPr lang="en-US" sz="750" dirty="0"/>
          </a:p>
        </p:txBody>
      </p:sp>
      <p:sp>
        <p:nvSpPr>
          <p:cNvPr id="6" name="Text 4"/>
          <p:cNvSpPr/>
          <p:nvPr/>
        </p:nvSpPr>
        <p:spPr>
          <a:xfrm>
            <a:off x="6858000" y="4901184"/>
            <a:ext cx="1920240" cy="182880"/>
          </a:xfrm>
          <a:prstGeom prst="rect">
            <a:avLst/>
          </a:prstGeom>
          <a:noFill/>
          <a:ln/>
        </p:spPr>
        <p:txBody>
          <a:bodyPr wrap="square" lIns="0" tIns="0" rIns="0" bIns="0" rtlCol="0" anchor="ctr"/>
          <a:lstStyle/>
          <a:p>
            <a:pPr algn="r" indent="0" marL="0">
              <a:buNone/>
            </a:pPr>
            <a:r>
              <a:rPr lang="en-US" sz="750" dirty="0">
                <a:solidFill>
                  <a:srgbClr val="5C6370"/>
                </a:solidFill>
              </a:rPr>
              <a:t>Suraj Karthikeyan</a:t>
            </a:r>
            <a:endParaRPr lang="en-US" sz="750" dirty="0"/>
          </a:p>
        </p:txBody>
      </p:sp>
      <p:sp>
        <p:nvSpPr>
          <p:cNvPr id="7" name="Shape 5"/>
          <p:cNvSpPr/>
          <p:nvPr/>
        </p:nvSpPr>
        <p:spPr>
          <a:xfrm>
            <a:off x="548640" y="1325880"/>
            <a:ext cx="54864" cy="658368"/>
          </a:xfrm>
          <a:prstGeom prst="rect">
            <a:avLst/>
          </a:prstGeom>
          <a:solidFill>
            <a:srgbClr val="56B6C2"/>
          </a:solidFill>
          <a:ln w="12700">
            <a:solidFill>
              <a:srgbClr val="56B6C2"/>
            </a:solidFill>
            <a:prstDash val="solid"/>
          </a:ln>
        </p:spPr>
      </p:sp>
      <p:sp>
        <p:nvSpPr>
          <p:cNvPr id="8" name="Text 6"/>
          <p:cNvSpPr/>
          <p:nvPr/>
        </p:nvSpPr>
        <p:spPr>
          <a:xfrm>
            <a:off x="749808" y="1362456"/>
            <a:ext cx="7863840" cy="274320"/>
          </a:xfrm>
          <a:prstGeom prst="rect">
            <a:avLst/>
          </a:prstGeom>
          <a:noFill/>
          <a:ln/>
        </p:spPr>
        <p:txBody>
          <a:bodyPr wrap="square" lIns="0" tIns="0" rIns="0" bIns="0" rtlCol="0" anchor="ctr"/>
          <a:lstStyle/>
          <a:p>
            <a:pPr indent="0" marL="0">
              <a:buNone/>
            </a:pPr>
            <a:r>
              <a:rPr lang="en-US" sz="1200" b="1" dirty="0">
                <a:solidFill>
                  <a:srgbClr val="56B6C2"/>
                </a:solidFill>
              </a:rPr>
              <a:t>JWT stripped in transit</a:t>
            </a:r>
            <a:endParaRPr lang="en-US" sz="1200" dirty="0"/>
          </a:p>
        </p:txBody>
      </p:sp>
      <p:sp>
        <p:nvSpPr>
          <p:cNvPr id="9" name="Text 7"/>
          <p:cNvSpPr/>
          <p:nvPr/>
        </p:nvSpPr>
        <p:spPr>
          <a:xfrm>
            <a:off x="749808" y="1655064"/>
            <a:ext cx="7863840" cy="274320"/>
          </a:xfrm>
          <a:prstGeom prst="rect">
            <a:avLst/>
          </a:prstGeom>
          <a:noFill/>
          <a:ln/>
        </p:spPr>
        <p:txBody>
          <a:bodyPr wrap="square" lIns="0" tIns="0" rIns="0" bIns="0" rtlCol="0" anchor="ctr"/>
          <a:lstStyle/>
          <a:p>
            <a:pPr indent="0" marL="0">
              <a:buNone/>
            </a:pPr>
            <a:r>
              <a:rPr lang="en-US" sz="1100" dirty="0">
                <a:solidFill>
                  <a:srgbClr val="ABB2BF"/>
                </a:solidFill>
              </a:rPr>
              <a:t>→  Added proxyReqOptDecorator to re-attach the Authorization header</a:t>
            </a:r>
            <a:endParaRPr lang="en-US" sz="1100" dirty="0"/>
          </a:p>
        </p:txBody>
      </p:sp>
      <p:sp>
        <p:nvSpPr>
          <p:cNvPr id="10" name="Shape 8"/>
          <p:cNvSpPr/>
          <p:nvPr/>
        </p:nvSpPr>
        <p:spPr>
          <a:xfrm>
            <a:off x="548640" y="2148840"/>
            <a:ext cx="54864" cy="658368"/>
          </a:xfrm>
          <a:prstGeom prst="rect">
            <a:avLst/>
          </a:prstGeom>
          <a:solidFill>
            <a:srgbClr val="C678DD"/>
          </a:solidFill>
          <a:ln w="12700">
            <a:solidFill>
              <a:srgbClr val="C678DD"/>
            </a:solidFill>
            <a:prstDash val="solid"/>
          </a:ln>
        </p:spPr>
      </p:sp>
      <p:sp>
        <p:nvSpPr>
          <p:cNvPr id="11" name="Text 9"/>
          <p:cNvSpPr/>
          <p:nvPr/>
        </p:nvSpPr>
        <p:spPr>
          <a:xfrm>
            <a:off x="749808" y="2185416"/>
            <a:ext cx="7863840" cy="274320"/>
          </a:xfrm>
          <a:prstGeom prst="rect">
            <a:avLst/>
          </a:prstGeom>
          <a:noFill/>
          <a:ln/>
        </p:spPr>
        <p:txBody>
          <a:bodyPr wrap="square" lIns="0" tIns="0" rIns="0" bIns="0" rtlCol="0" anchor="ctr"/>
          <a:lstStyle/>
          <a:p>
            <a:pPr indent="0" marL="0">
              <a:buNone/>
            </a:pPr>
            <a:r>
              <a:rPr lang="en-US" sz="1200" b="1" dirty="0">
                <a:solidFill>
                  <a:srgbClr val="C678DD"/>
                </a:solidFill>
              </a:rPr>
              <a:t>Services starting before databases</a:t>
            </a:r>
            <a:endParaRPr lang="en-US" sz="1200" dirty="0"/>
          </a:p>
        </p:txBody>
      </p:sp>
      <p:sp>
        <p:nvSpPr>
          <p:cNvPr id="12" name="Text 10"/>
          <p:cNvSpPr/>
          <p:nvPr/>
        </p:nvSpPr>
        <p:spPr>
          <a:xfrm>
            <a:off x="749808" y="2478024"/>
            <a:ext cx="7863840" cy="274320"/>
          </a:xfrm>
          <a:prstGeom prst="rect">
            <a:avLst/>
          </a:prstGeom>
          <a:noFill/>
          <a:ln/>
        </p:spPr>
        <p:txBody>
          <a:bodyPr wrap="square" lIns="0" tIns="0" rIns="0" bIns="0" rtlCol="0" anchor="ctr"/>
          <a:lstStyle/>
          <a:p>
            <a:pPr indent="0" marL="0">
              <a:buNone/>
            </a:pPr>
            <a:r>
              <a:rPr lang="en-US" sz="1100" dirty="0">
                <a:solidFill>
                  <a:srgbClr val="ABB2BF"/>
                </a:solidFill>
              </a:rPr>
              <a:t>→  Added MySQL healthchecks in docker-compose — services wait for TCP</a:t>
            </a:r>
            <a:endParaRPr lang="en-US" sz="1100" dirty="0"/>
          </a:p>
        </p:txBody>
      </p:sp>
      <p:sp>
        <p:nvSpPr>
          <p:cNvPr id="13" name="Shape 11"/>
          <p:cNvSpPr/>
          <p:nvPr/>
        </p:nvSpPr>
        <p:spPr>
          <a:xfrm>
            <a:off x="548640" y="2971800"/>
            <a:ext cx="54864" cy="658368"/>
          </a:xfrm>
          <a:prstGeom prst="rect">
            <a:avLst/>
          </a:prstGeom>
          <a:solidFill>
            <a:srgbClr val="E5C07B"/>
          </a:solidFill>
          <a:ln w="12700">
            <a:solidFill>
              <a:srgbClr val="E5C07B"/>
            </a:solidFill>
            <a:prstDash val="solid"/>
          </a:ln>
        </p:spPr>
      </p:sp>
      <p:sp>
        <p:nvSpPr>
          <p:cNvPr id="14" name="Text 12"/>
          <p:cNvSpPr/>
          <p:nvPr/>
        </p:nvSpPr>
        <p:spPr>
          <a:xfrm>
            <a:off x="749808" y="3008376"/>
            <a:ext cx="7863840" cy="274320"/>
          </a:xfrm>
          <a:prstGeom prst="rect">
            <a:avLst/>
          </a:prstGeom>
          <a:noFill/>
          <a:ln/>
        </p:spPr>
        <p:txBody>
          <a:bodyPr wrap="square" lIns="0" tIns="0" rIns="0" bIns="0" rtlCol="0" anchor="ctr"/>
          <a:lstStyle/>
          <a:p>
            <a:pPr indent="0" marL="0">
              <a:buNone/>
            </a:pPr>
            <a:r>
              <a:rPr lang="en-US" sz="1200" b="1" dirty="0">
                <a:solidFill>
                  <a:srgbClr val="E5C07B"/>
                </a:solidFill>
              </a:rPr>
              <a:t>/overdue matched as a machine ID</a:t>
            </a:r>
            <a:endParaRPr lang="en-US" sz="1200" dirty="0"/>
          </a:p>
        </p:txBody>
      </p:sp>
      <p:sp>
        <p:nvSpPr>
          <p:cNvPr id="15" name="Text 13"/>
          <p:cNvSpPr/>
          <p:nvPr/>
        </p:nvSpPr>
        <p:spPr>
          <a:xfrm>
            <a:off x="749808" y="3300984"/>
            <a:ext cx="7863840" cy="274320"/>
          </a:xfrm>
          <a:prstGeom prst="rect">
            <a:avLst/>
          </a:prstGeom>
          <a:noFill/>
          <a:ln/>
        </p:spPr>
        <p:txBody>
          <a:bodyPr wrap="square" lIns="0" tIns="0" rIns="0" bIns="0" rtlCol="0" anchor="ctr"/>
          <a:lstStyle/>
          <a:p>
            <a:pPr indent="0" marL="0">
              <a:buNone/>
            </a:pPr>
            <a:r>
              <a:rPr lang="en-US" sz="1100" dirty="0">
                <a:solidFill>
                  <a:srgbClr val="ABB2BF"/>
                </a:solidFill>
              </a:rPr>
              <a:t>→  Registered /overdue before /:id — Express route order matters</a:t>
            </a:r>
            <a:endParaRPr lang="en-US" sz="1100" dirty="0"/>
          </a:p>
        </p:txBody>
      </p:sp>
      <p:sp>
        <p:nvSpPr>
          <p:cNvPr id="16" name="Shape 14"/>
          <p:cNvSpPr/>
          <p:nvPr/>
        </p:nvSpPr>
        <p:spPr>
          <a:xfrm>
            <a:off x="548640" y="3794760"/>
            <a:ext cx="54864" cy="658368"/>
          </a:xfrm>
          <a:prstGeom prst="rect">
            <a:avLst/>
          </a:prstGeom>
          <a:solidFill>
            <a:srgbClr val="61AFEF"/>
          </a:solidFill>
          <a:ln w="12700">
            <a:solidFill>
              <a:srgbClr val="61AFEF"/>
            </a:solidFill>
            <a:prstDash val="solid"/>
          </a:ln>
        </p:spPr>
      </p:sp>
      <p:sp>
        <p:nvSpPr>
          <p:cNvPr id="17" name="Text 15"/>
          <p:cNvSpPr/>
          <p:nvPr/>
        </p:nvSpPr>
        <p:spPr>
          <a:xfrm>
            <a:off x="749808" y="3831336"/>
            <a:ext cx="7863840" cy="274320"/>
          </a:xfrm>
          <a:prstGeom prst="rect">
            <a:avLst/>
          </a:prstGeom>
          <a:noFill/>
          <a:ln/>
        </p:spPr>
        <p:txBody>
          <a:bodyPr wrap="square" lIns="0" tIns="0" rIns="0" bIns="0" rtlCol="0" anchor="ctr"/>
          <a:lstStyle/>
          <a:p>
            <a:pPr indent="0" marL="0">
              <a:buNone/>
            </a:pPr>
            <a:r>
              <a:rPr lang="en-US" sz="1200" b="1" dirty="0">
                <a:solidFill>
                  <a:srgbClr val="61AFEF"/>
                </a:solidFill>
              </a:rPr>
              <a:t>Alerts duplicating every hour</a:t>
            </a:r>
            <a:endParaRPr lang="en-US" sz="1200" dirty="0"/>
          </a:p>
        </p:txBody>
      </p:sp>
      <p:sp>
        <p:nvSpPr>
          <p:cNvPr id="18" name="Text 16"/>
          <p:cNvSpPr/>
          <p:nvPr/>
        </p:nvSpPr>
        <p:spPr>
          <a:xfrm>
            <a:off x="749808" y="4123944"/>
            <a:ext cx="7863840" cy="274320"/>
          </a:xfrm>
          <a:prstGeom prst="rect">
            <a:avLst/>
          </a:prstGeom>
          <a:noFill/>
          <a:ln/>
        </p:spPr>
        <p:txBody>
          <a:bodyPr wrap="square" lIns="0" tIns="0" rIns="0" bIns="0" rtlCol="0" anchor="ctr"/>
          <a:lstStyle/>
          <a:p>
            <a:pPr indent="0" marL="0">
              <a:buNone/>
            </a:pPr>
            <a:r>
              <a:rPr lang="en-US" sz="1100" dirty="0">
                <a:solidFill>
                  <a:srgbClr val="ABB2BF"/>
                </a:solidFill>
              </a:rPr>
              <a:t>→  Changed to upsert — delete existing, insert fresh on each cron run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82C34"/>
        </a:solidFill>
      </p:bgPr>
    </p:bg>
    <p:spTree>
      <p:nvGrpSpPr>
        <p:cNvPr id="1" name=""/>
        <p:cNvGrpSpPr/>
        <p:nvPr/>
      </p:nvGrpSpPr>
      <p:grpSpPr>
        <a:xfrm>
          <a:off x="0" y="0"/>
          <a:ext cx="0" cy="0"/>
          <a:chOff x="0" y="0"/>
          <a:chExt cx="0" cy="0"/>
        </a:xfrm>
      </p:grpSpPr>
      <p:sp>
        <p:nvSpPr>
          <p:cNvPr id="2" name="Text 0"/>
          <p:cNvSpPr/>
          <p:nvPr/>
        </p:nvSpPr>
        <p:spPr>
          <a:xfrm>
            <a:off x="548640" y="201168"/>
            <a:ext cx="8229600" cy="237744"/>
          </a:xfrm>
          <a:prstGeom prst="rect">
            <a:avLst/>
          </a:prstGeom>
          <a:noFill/>
          <a:ln/>
        </p:spPr>
        <p:txBody>
          <a:bodyPr wrap="square" lIns="0" tIns="0" rIns="0" bIns="0" rtlCol="0" anchor="ctr"/>
          <a:lstStyle/>
          <a:p>
            <a:pPr indent="0" marL="0">
              <a:buNone/>
            </a:pPr>
            <a:r>
              <a:rPr lang="en-US" sz="800" b="1" spc="300" kern="0" dirty="0">
                <a:solidFill>
                  <a:srgbClr val="56B6C2"/>
                </a:solidFill>
              </a:rPr>
              <a:t>FUTURE DEVELOPMENT</a:t>
            </a:r>
            <a:endParaRPr lang="en-US" sz="800" dirty="0"/>
          </a:p>
        </p:txBody>
      </p:sp>
      <p:sp>
        <p:nvSpPr>
          <p:cNvPr id="3" name="Text 1"/>
          <p:cNvSpPr/>
          <p:nvPr/>
        </p:nvSpPr>
        <p:spPr>
          <a:xfrm>
            <a:off x="548640" y="502920"/>
            <a:ext cx="8046720" cy="685800"/>
          </a:xfrm>
          <a:prstGeom prst="rect">
            <a:avLst/>
          </a:prstGeom>
          <a:noFill/>
          <a:ln/>
        </p:spPr>
        <p:txBody>
          <a:bodyPr wrap="square" lIns="0" tIns="0" rIns="0" bIns="0" rtlCol="0" anchor="ctr"/>
          <a:lstStyle/>
          <a:p>
            <a:pPr indent="0" marL="0">
              <a:buNone/>
            </a:pPr>
            <a:r>
              <a:rPr lang="en-US" sz="3600" b="1" dirty="0">
                <a:solidFill>
                  <a:srgbClr val="DCDFE4"/>
                </a:solidFill>
                <a:latin typeface="Calibri" pitchFamily="34" charset="0"/>
                <a:ea typeface="Calibri" pitchFamily="34" charset="-122"/>
                <a:cs typeface="Calibri" pitchFamily="34" charset="-120"/>
              </a:rPr>
              <a:t>Proposed enhancements &amp; priorities</a:t>
            </a:r>
            <a:endParaRPr lang="en-US" sz="3600" dirty="0"/>
          </a:p>
        </p:txBody>
      </p:sp>
      <p:sp>
        <p:nvSpPr>
          <p:cNvPr id="4" name="Shape 2"/>
          <p:cNvSpPr/>
          <p:nvPr/>
        </p:nvSpPr>
        <p:spPr>
          <a:xfrm>
            <a:off x="548640" y="4864608"/>
            <a:ext cx="8046720" cy="0"/>
          </a:xfrm>
          <a:prstGeom prst="line">
            <a:avLst/>
          </a:prstGeom>
          <a:noFill/>
          <a:ln w="5080">
            <a:solidFill>
              <a:srgbClr val="3E4451"/>
            </a:solidFill>
            <a:prstDash val="solid"/>
          </a:ln>
        </p:spPr>
      </p:sp>
      <p:sp>
        <p:nvSpPr>
          <p:cNvPr id="5" name="Text 3"/>
          <p:cNvSpPr/>
          <p:nvPr/>
        </p:nvSpPr>
        <p:spPr>
          <a:xfrm>
            <a:off x="548640" y="4901184"/>
            <a:ext cx="6400800" cy="182880"/>
          </a:xfrm>
          <a:prstGeom prst="rect">
            <a:avLst/>
          </a:prstGeom>
          <a:noFill/>
          <a:ln/>
        </p:spPr>
        <p:txBody>
          <a:bodyPr wrap="square" lIns="0" tIns="0" rIns="0" bIns="0" rtlCol="0" anchor="ctr"/>
          <a:lstStyle/>
          <a:p>
            <a:pPr indent="0" marL="0">
              <a:buNone/>
            </a:pPr>
            <a:r>
              <a:rPr lang="en-US" sz="750" dirty="0">
                <a:solidFill>
                  <a:srgbClr val="5C6370"/>
                </a:solidFill>
              </a:rPr>
              <a:t>Machine Maintenance Scheduler  ·  NTT Data Case Study</a:t>
            </a:r>
            <a:endParaRPr lang="en-US" sz="750" dirty="0"/>
          </a:p>
        </p:txBody>
      </p:sp>
      <p:sp>
        <p:nvSpPr>
          <p:cNvPr id="6" name="Text 4"/>
          <p:cNvSpPr/>
          <p:nvPr/>
        </p:nvSpPr>
        <p:spPr>
          <a:xfrm>
            <a:off x="6858000" y="4901184"/>
            <a:ext cx="1920240" cy="182880"/>
          </a:xfrm>
          <a:prstGeom prst="rect">
            <a:avLst/>
          </a:prstGeom>
          <a:noFill/>
          <a:ln/>
        </p:spPr>
        <p:txBody>
          <a:bodyPr wrap="square" lIns="0" tIns="0" rIns="0" bIns="0" rtlCol="0" anchor="ctr"/>
          <a:lstStyle/>
          <a:p>
            <a:pPr algn="r" indent="0" marL="0">
              <a:buNone/>
            </a:pPr>
            <a:r>
              <a:rPr lang="en-US" sz="750" dirty="0">
                <a:solidFill>
                  <a:srgbClr val="5C6370"/>
                </a:solidFill>
              </a:rPr>
              <a:t>Suraj Karthikeyan</a:t>
            </a:r>
            <a:endParaRPr lang="en-US" sz="750" dirty="0"/>
          </a:p>
        </p:txBody>
      </p:sp>
      <p:sp>
        <p:nvSpPr>
          <p:cNvPr id="7" name="Shape 5"/>
          <p:cNvSpPr/>
          <p:nvPr/>
        </p:nvSpPr>
        <p:spPr>
          <a:xfrm>
            <a:off x="548640" y="1371600"/>
            <a:ext cx="54864" cy="621792"/>
          </a:xfrm>
          <a:prstGeom prst="rect">
            <a:avLst/>
          </a:prstGeom>
          <a:solidFill>
            <a:srgbClr val="56B6C2"/>
          </a:solidFill>
          <a:ln w="12700">
            <a:solidFill>
              <a:srgbClr val="56B6C2"/>
            </a:solidFill>
            <a:prstDash val="solid"/>
          </a:ln>
        </p:spPr>
      </p:sp>
      <p:sp>
        <p:nvSpPr>
          <p:cNvPr id="8" name="Shape 6"/>
          <p:cNvSpPr/>
          <p:nvPr/>
        </p:nvSpPr>
        <p:spPr>
          <a:xfrm>
            <a:off x="7863840" y="1444752"/>
            <a:ext cx="822960" cy="237744"/>
          </a:xfrm>
          <a:prstGeom prst="roundRect">
            <a:avLst>
              <a:gd name="adj" fmla="val 23077"/>
            </a:avLst>
          </a:prstGeom>
          <a:solidFill>
            <a:srgbClr val="2C313C"/>
          </a:solidFill>
          <a:ln w="12700">
            <a:solidFill>
              <a:srgbClr val="E06C75"/>
            </a:solidFill>
            <a:prstDash val="solid"/>
          </a:ln>
        </p:spPr>
      </p:sp>
      <p:sp>
        <p:nvSpPr>
          <p:cNvPr id="9" name="Text 7"/>
          <p:cNvSpPr/>
          <p:nvPr/>
        </p:nvSpPr>
        <p:spPr>
          <a:xfrm>
            <a:off x="7863840" y="1444752"/>
            <a:ext cx="822960" cy="237744"/>
          </a:xfrm>
          <a:prstGeom prst="rect">
            <a:avLst/>
          </a:prstGeom>
          <a:noFill/>
          <a:ln/>
        </p:spPr>
        <p:txBody>
          <a:bodyPr wrap="square" lIns="0" tIns="0" rIns="0" bIns="0" rtlCol="0" anchor="ctr"/>
          <a:lstStyle/>
          <a:p>
            <a:pPr algn="ctr" indent="0" marL="0">
              <a:buNone/>
            </a:pPr>
            <a:r>
              <a:rPr lang="en-US" sz="800" b="1" dirty="0">
                <a:solidFill>
                  <a:srgbClr val="E06C75"/>
                </a:solidFill>
              </a:rPr>
              <a:t>HIGH</a:t>
            </a:r>
            <a:endParaRPr lang="en-US" sz="800" dirty="0"/>
          </a:p>
        </p:txBody>
      </p:sp>
      <p:sp>
        <p:nvSpPr>
          <p:cNvPr id="10" name="Text 8"/>
          <p:cNvSpPr/>
          <p:nvPr/>
        </p:nvSpPr>
        <p:spPr>
          <a:xfrm>
            <a:off x="749808" y="1389888"/>
            <a:ext cx="6949440" cy="292608"/>
          </a:xfrm>
          <a:prstGeom prst="rect">
            <a:avLst/>
          </a:prstGeom>
          <a:noFill/>
          <a:ln/>
        </p:spPr>
        <p:txBody>
          <a:bodyPr wrap="square" lIns="0" tIns="0" rIns="0" bIns="0" rtlCol="0" anchor="ctr"/>
          <a:lstStyle/>
          <a:p>
            <a:pPr indent="0" marL="0">
              <a:buNone/>
            </a:pPr>
            <a:r>
              <a:rPr lang="en-US" sz="1300" b="1" dirty="0">
                <a:solidFill>
                  <a:srgbClr val="56B6C2"/>
                </a:solidFill>
              </a:rPr>
              <a:t>Inter-service authentication</a:t>
            </a:r>
            <a:endParaRPr lang="en-US" sz="1300" dirty="0"/>
          </a:p>
        </p:txBody>
      </p:sp>
      <p:sp>
        <p:nvSpPr>
          <p:cNvPr id="11" name="Text 9"/>
          <p:cNvSpPr/>
          <p:nvPr/>
        </p:nvSpPr>
        <p:spPr>
          <a:xfrm>
            <a:off x="749808" y="1700784"/>
            <a:ext cx="6949440" cy="256032"/>
          </a:xfrm>
          <a:prstGeom prst="rect">
            <a:avLst/>
          </a:prstGeom>
          <a:noFill/>
          <a:ln/>
        </p:spPr>
        <p:txBody>
          <a:bodyPr wrap="square" lIns="0" tIns="0" rIns="0" bIns="0" rtlCol="0" anchor="ctr"/>
          <a:lstStyle/>
          <a:p>
            <a:pPr indent="0" marL="0">
              <a:buNone/>
            </a:pPr>
            <a:r>
              <a:rPr lang="en-US" sz="1000" dirty="0">
                <a:solidFill>
                  <a:srgbClr val="5C6370"/>
                </a:solidFill>
              </a:rPr>
              <a:t>User JWTs handle browser auth correctly. Server-to-server calls (Alert → Machine) have no token — a service-level API key would close this gap.</a:t>
            </a:r>
            <a:endParaRPr lang="en-US" sz="1000" dirty="0"/>
          </a:p>
        </p:txBody>
      </p:sp>
      <p:sp>
        <p:nvSpPr>
          <p:cNvPr id="12" name="Shape 10"/>
          <p:cNvSpPr/>
          <p:nvPr/>
        </p:nvSpPr>
        <p:spPr>
          <a:xfrm>
            <a:off x="548640" y="2167128"/>
            <a:ext cx="54864" cy="621792"/>
          </a:xfrm>
          <a:prstGeom prst="rect">
            <a:avLst/>
          </a:prstGeom>
          <a:solidFill>
            <a:srgbClr val="C678DD"/>
          </a:solidFill>
          <a:ln w="12700">
            <a:solidFill>
              <a:srgbClr val="C678DD"/>
            </a:solidFill>
            <a:prstDash val="solid"/>
          </a:ln>
        </p:spPr>
      </p:sp>
      <p:sp>
        <p:nvSpPr>
          <p:cNvPr id="13" name="Shape 11"/>
          <p:cNvSpPr/>
          <p:nvPr/>
        </p:nvSpPr>
        <p:spPr>
          <a:xfrm>
            <a:off x="7863840" y="2240280"/>
            <a:ext cx="822960" cy="237744"/>
          </a:xfrm>
          <a:prstGeom prst="roundRect">
            <a:avLst>
              <a:gd name="adj" fmla="val 23077"/>
            </a:avLst>
          </a:prstGeom>
          <a:solidFill>
            <a:srgbClr val="2C313C"/>
          </a:solidFill>
          <a:ln w="12700">
            <a:solidFill>
              <a:srgbClr val="E06C75"/>
            </a:solidFill>
            <a:prstDash val="solid"/>
          </a:ln>
        </p:spPr>
      </p:sp>
      <p:sp>
        <p:nvSpPr>
          <p:cNvPr id="14" name="Text 12"/>
          <p:cNvSpPr/>
          <p:nvPr/>
        </p:nvSpPr>
        <p:spPr>
          <a:xfrm>
            <a:off x="7863840" y="2240280"/>
            <a:ext cx="822960" cy="237744"/>
          </a:xfrm>
          <a:prstGeom prst="rect">
            <a:avLst/>
          </a:prstGeom>
          <a:noFill/>
          <a:ln/>
        </p:spPr>
        <p:txBody>
          <a:bodyPr wrap="square" lIns="0" tIns="0" rIns="0" bIns="0" rtlCol="0" anchor="ctr"/>
          <a:lstStyle/>
          <a:p>
            <a:pPr algn="ctr" indent="0" marL="0">
              <a:buNone/>
            </a:pPr>
            <a:r>
              <a:rPr lang="en-US" sz="800" b="1" dirty="0">
                <a:solidFill>
                  <a:srgbClr val="E06C75"/>
                </a:solidFill>
              </a:rPr>
              <a:t>HIGH</a:t>
            </a:r>
            <a:endParaRPr lang="en-US" sz="800" dirty="0"/>
          </a:p>
        </p:txBody>
      </p:sp>
      <p:sp>
        <p:nvSpPr>
          <p:cNvPr id="15" name="Text 13"/>
          <p:cNvSpPr/>
          <p:nvPr/>
        </p:nvSpPr>
        <p:spPr>
          <a:xfrm>
            <a:off x="749808" y="2185416"/>
            <a:ext cx="6949440" cy="292608"/>
          </a:xfrm>
          <a:prstGeom prst="rect">
            <a:avLst/>
          </a:prstGeom>
          <a:noFill/>
          <a:ln/>
        </p:spPr>
        <p:txBody>
          <a:bodyPr wrap="square" lIns="0" tIns="0" rIns="0" bIns="0" rtlCol="0" anchor="ctr"/>
          <a:lstStyle/>
          <a:p>
            <a:pPr indent="0" marL="0">
              <a:buNone/>
            </a:pPr>
            <a:r>
              <a:rPr lang="en-US" sz="1300" b="1" dirty="0">
                <a:solidFill>
                  <a:srgbClr val="C678DD"/>
                </a:solidFill>
              </a:rPr>
              <a:t>Unit tests</a:t>
            </a:r>
            <a:endParaRPr lang="en-US" sz="1300" dirty="0"/>
          </a:p>
        </p:txBody>
      </p:sp>
      <p:sp>
        <p:nvSpPr>
          <p:cNvPr id="16" name="Text 14"/>
          <p:cNvSpPr/>
          <p:nvPr/>
        </p:nvSpPr>
        <p:spPr>
          <a:xfrm>
            <a:off x="749808" y="2496312"/>
            <a:ext cx="6949440" cy="256032"/>
          </a:xfrm>
          <a:prstGeom prst="rect">
            <a:avLst/>
          </a:prstGeom>
          <a:noFill/>
          <a:ln/>
        </p:spPr>
        <p:txBody>
          <a:bodyPr wrap="square" lIns="0" tIns="0" rIns="0" bIns="0" rtlCol="0" anchor="ctr"/>
          <a:lstStyle/>
          <a:p>
            <a:pPr indent="0" marL="0">
              <a:buNone/>
            </a:pPr>
            <a:r>
              <a:rPr lang="en-US" sz="1000" dirty="0">
                <a:solidFill>
                  <a:srgbClr val="5C6370"/>
                </a:solidFill>
              </a:rPr>
              <a:t>RBAC middleware, days_overdue logic, bulk schedule partial failures.</a:t>
            </a:r>
            <a:endParaRPr lang="en-US" sz="1000" dirty="0"/>
          </a:p>
        </p:txBody>
      </p:sp>
      <p:sp>
        <p:nvSpPr>
          <p:cNvPr id="17" name="Shape 15"/>
          <p:cNvSpPr/>
          <p:nvPr/>
        </p:nvSpPr>
        <p:spPr>
          <a:xfrm>
            <a:off x="548640" y="2962656"/>
            <a:ext cx="54864" cy="621792"/>
          </a:xfrm>
          <a:prstGeom prst="rect">
            <a:avLst/>
          </a:prstGeom>
          <a:solidFill>
            <a:srgbClr val="61AFEF"/>
          </a:solidFill>
          <a:ln w="12700">
            <a:solidFill>
              <a:srgbClr val="61AFEF"/>
            </a:solidFill>
            <a:prstDash val="solid"/>
          </a:ln>
        </p:spPr>
      </p:sp>
      <p:sp>
        <p:nvSpPr>
          <p:cNvPr id="18" name="Shape 16"/>
          <p:cNvSpPr/>
          <p:nvPr/>
        </p:nvSpPr>
        <p:spPr>
          <a:xfrm>
            <a:off x="7863840" y="3035808"/>
            <a:ext cx="822960" cy="237744"/>
          </a:xfrm>
          <a:prstGeom prst="roundRect">
            <a:avLst>
              <a:gd name="adj" fmla="val 23077"/>
            </a:avLst>
          </a:prstGeom>
          <a:solidFill>
            <a:srgbClr val="2C313C"/>
          </a:solidFill>
          <a:ln w="12700">
            <a:solidFill>
              <a:srgbClr val="E5C07B"/>
            </a:solidFill>
            <a:prstDash val="solid"/>
          </a:ln>
        </p:spPr>
      </p:sp>
      <p:sp>
        <p:nvSpPr>
          <p:cNvPr id="19" name="Text 17"/>
          <p:cNvSpPr/>
          <p:nvPr/>
        </p:nvSpPr>
        <p:spPr>
          <a:xfrm>
            <a:off x="7863840" y="3035808"/>
            <a:ext cx="822960" cy="237744"/>
          </a:xfrm>
          <a:prstGeom prst="rect">
            <a:avLst/>
          </a:prstGeom>
          <a:noFill/>
          <a:ln/>
        </p:spPr>
        <p:txBody>
          <a:bodyPr wrap="square" lIns="0" tIns="0" rIns="0" bIns="0" rtlCol="0" anchor="ctr"/>
          <a:lstStyle/>
          <a:p>
            <a:pPr algn="ctr" indent="0" marL="0">
              <a:buNone/>
            </a:pPr>
            <a:r>
              <a:rPr lang="en-US" sz="800" b="1" dirty="0">
                <a:solidFill>
                  <a:srgbClr val="E5C07B"/>
                </a:solidFill>
              </a:rPr>
              <a:t>MED</a:t>
            </a:r>
            <a:endParaRPr lang="en-US" sz="800" dirty="0"/>
          </a:p>
        </p:txBody>
      </p:sp>
      <p:sp>
        <p:nvSpPr>
          <p:cNvPr id="20" name="Text 18"/>
          <p:cNvSpPr/>
          <p:nvPr/>
        </p:nvSpPr>
        <p:spPr>
          <a:xfrm>
            <a:off x="749808" y="2980944"/>
            <a:ext cx="6949440" cy="292608"/>
          </a:xfrm>
          <a:prstGeom prst="rect">
            <a:avLst/>
          </a:prstGeom>
          <a:noFill/>
          <a:ln/>
        </p:spPr>
        <p:txBody>
          <a:bodyPr wrap="square" lIns="0" tIns="0" rIns="0" bIns="0" rtlCol="0" anchor="ctr"/>
          <a:lstStyle/>
          <a:p>
            <a:pPr indent="0" marL="0">
              <a:buNone/>
            </a:pPr>
            <a:r>
              <a:rPr lang="en-US" sz="1300" b="1" dirty="0">
                <a:solidFill>
                  <a:srgbClr val="61AFEF"/>
                </a:solidFill>
              </a:rPr>
              <a:t>Slack / Teams notifications</a:t>
            </a:r>
            <a:endParaRPr lang="en-US" sz="1300" dirty="0"/>
          </a:p>
        </p:txBody>
      </p:sp>
      <p:sp>
        <p:nvSpPr>
          <p:cNvPr id="21" name="Text 19"/>
          <p:cNvSpPr/>
          <p:nvPr/>
        </p:nvSpPr>
        <p:spPr>
          <a:xfrm>
            <a:off x="749808" y="3291840"/>
            <a:ext cx="6949440" cy="256032"/>
          </a:xfrm>
          <a:prstGeom prst="rect">
            <a:avLst/>
          </a:prstGeom>
          <a:noFill/>
          <a:ln/>
        </p:spPr>
        <p:txBody>
          <a:bodyPr wrap="square" lIns="0" tIns="0" rIns="0" bIns="0" rtlCol="0" anchor="ctr"/>
          <a:lstStyle/>
          <a:p>
            <a:pPr indent="0" marL="0">
              <a:buNone/>
            </a:pPr>
            <a:r>
              <a:rPr lang="en-US" sz="1000" dirty="0">
                <a:solidFill>
                  <a:srgbClr val="5C6370"/>
                </a:solidFill>
              </a:rPr>
              <a:t>Cron already detects Critical alerts at 3am. A webhook call to Slack or Teams means the team is notified instantly without opening the dashboard.</a:t>
            </a:r>
            <a:endParaRPr lang="en-US" sz="1000" dirty="0"/>
          </a:p>
        </p:txBody>
      </p:sp>
      <p:sp>
        <p:nvSpPr>
          <p:cNvPr id="22" name="Shape 20"/>
          <p:cNvSpPr/>
          <p:nvPr/>
        </p:nvSpPr>
        <p:spPr>
          <a:xfrm>
            <a:off x="548640" y="3758184"/>
            <a:ext cx="54864" cy="621792"/>
          </a:xfrm>
          <a:prstGeom prst="rect">
            <a:avLst/>
          </a:prstGeom>
          <a:solidFill>
            <a:srgbClr val="E5C07B"/>
          </a:solidFill>
          <a:ln w="12700">
            <a:solidFill>
              <a:srgbClr val="E5C07B"/>
            </a:solidFill>
            <a:prstDash val="solid"/>
          </a:ln>
        </p:spPr>
      </p:sp>
      <p:sp>
        <p:nvSpPr>
          <p:cNvPr id="23" name="Shape 21"/>
          <p:cNvSpPr/>
          <p:nvPr/>
        </p:nvSpPr>
        <p:spPr>
          <a:xfrm>
            <a:off x="7863840" y="3831336"/>
            <a:ext cx="822960" cy="237744"/>
          </a:xfrm>
          <a:prstGeom prst="roundRect">
            <a:avLst>
              <a:gd name="adj" fmla="val 23077"/>
            </a:avLst>
          </a:prstGeom>
          <a:solidFill>
            <a:srgbClr val="2C313C"/>
          </a:solidFill>
          <a:ln w="12700">
            <a:solidFill>
              <a:srgbClr val="E5C07B"/>
            </a:solidFill>
            <a:prstDash val="solid"/>
          </a:ln>
        </p:spPr>
      </p:sp>
      <p:sp>
        <p:nvSpPr>
          <p:cNvPr id="24" name="Text 22"/>
          <p:cNvSpPr/>
          <p:nvPr/>
        </p:nvSpPr>
        <p:spPr>
          <a:xfrm>
            <a:off x="7863840" y="3831336"/>
            <a:ext cx="822960" cy="237744"/>
          </a:xfrm>
          <a:prstGeom prst="rect">
            <a:avLst/>
          </a:prstGeom>
          <a:noFill/>
          <a:ln/>
        </p:spPr>
        <p:txBody>
          <a:bodyPr wrap="square" lIns="0" tIns="0" rIns="0" bIns="0" rtlCol="0" anchor="ctr"/>
          <a:lstStyle/>
          <a:p>
            <a:pPr algn="ctr" indent="0" marL="0">
              <a:buNone/>
            </a:pPr>
            <a:r>
              <a:rPr lang="en-US" sz="800" b="1" dirty="0">
                <a:solidFill>
                  <a:srgbClr val="E5C07B"/>
                </a:solidFill>
              </a:rPr>
              <a:t>MED</a:t>
            </a:r>
            <a:endParaRPr lang="en-US" sz="800" dirty="0"/>
          </a:p>
        </p:txBody>
      </p:sp>
      <p:sp>
        <p:nvSpPr>
          <p:cNvPr id="25" name="Text 23"/>
          <p:cNvSpPr/>
          <p:nvPr/>
        </p:nvSpPr>
        <p:spPr>
          <a:xfrm>
            <a:off x="749808" y="3776472"/>
            <a:ext cx="6949440" cy="292608"/>
          </a:xfrm>
          <a:prstGeom prst="rect">
            <a:avLst/>
          </a:prstGeom>
          <a:noFill/>
          <a:ln/>
        </p:spPr>
        <p:txBody>
          <a:bodyPr wrap="square" lIns="0" tIns="0" rIns="0" bIns="0" rtlCol="0" anchor="ctr"/>
          <a:lstStyle/>
          <a:p>
            <a:pPr indent="0" marL="0">
              <a:buNone/>
            </a:pPr>
            <a:r>
              <a:rPr lang="en-US" sz="1300" b="1" dirty="0">
                <a:solidFill>
                  <a:srgbClr val="E5C07B"/>
                </a:solidFill>
              </a:rPr>
              <a:t>Audit logging &amp; role expansion</a:t>
            </a:r>
            <a:endParaRPr lang="en-US" sz="1300" dirty="0"/>
          </a:p>
        </p:txBody>
      </p:sp>
      <p:sp>
        <p:nvSpPr>
          <p:cNvPr id="26" name="Text 24"/>
          <p:cNvSpPr/>
          <p:nvPr/>
        </p:nvSpPr>
        <p:spPr>
          <a:xfrm>
            <a:off x="749808" y="4087368"/>
            <a:ext cx="6949440" cy="256032"/>
          </a:xfrm>
          <a:prstGeom prst="rect">
            <a:avLst/>
          </a:prstGeom>
          <a:noFill/>
          <a:ln/>
        </p:spPr>
        <p:txBody>
          <a:bodyPr wrap="square" lIns="0" tIns="0" rIns="0" bIns="0" rtlCol="0" anchor="ctr"/>
          <a:lstStyle/>
          <a:p>
            <a:pPr indent="0" marL="0">
              <a:buNone/>
            </a:pPr>
            <a:r>
              <a:rPr lang="en-US" sz="1000" dirty="0">
                <a:solidFill>
                  <a:srgbClr val="5C6370"/>
                </a:solidFill>
              </a:rPr>
              <a:t>Track who changed what and when for compliance. A Supervisor read-only role or external API token would support how the system naturally grows.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82C34"/>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56B6C2"/>
          </a:solidFill>
          <a:ln w="12700">
            <a:solidFill>
              <a:srgbClr val="56B6C2"/>
            </a:solidFill>
            <a:prstDash val="solid"/>
          </a:ln>
        </p:spPr>
      </p:sp>
      <p:sp>
        <p:nvSpPr>
          <p:cNvPr id="3" name="Text 1"/>
          <p:cNvSpPr/>
          <p:nvPr/>
        </p:nvSpPr>
        <p:spPr>
          <a:xfrm>
            <a:off x="365760" y="640080"/>
            <a:ext cx="4572000" cy="1371600"/>
          </a:xfrm>
          <a:prstGeom prst="rect">
            <a:avLst/>
          </a:prstGeom>
          <a:noFill/>
          <a:ln/>
        </p:spPr>
        <p:txBody>
          <a:bodyPr wrap="square" lIns="0" tIns="0" rIns="0" bIns="0" rtlCol="0" anchor="ctr"/>
          <a:lstStyle/>
          <a:p>
            <a:pPr indent="0" marL="0">
              <a:buNone/>
            </a:pPr>
            <a:r>
              <a:rPr lang="en-US" sz="3400" b="1" dirty="0">
                <a:solidFill>
                  <a:srgbClr val="DCDFE4"/>
                </a:solidFill>
                <a:latin typeface="Calibri" pitchFamily="34" charset="0"/>
                <a:ea typeface="Calibri" pitchFamily="34" charset="-122"/>
                <a:cs typeface="Calibri" pitchFamily="34" charset="-120"/>
              </a:rPr>
              <a:t>What makes this</a:t>
            </a:r>
            <a:endParaRPr lang="en-US" sz="3400" dirty="0"/>
          </a:p>
          <a:p>
            <a:pPr indent="0" marL="0">
              <a:buNone/>
            </a:pPr>
            <a:r>
              <a:rPr lang="en-US" sz="3400" b="1" dirty="0">
                <a:solidFill>
                  <a:srgbClr val="DCDFE4"/>
                </a:solidFill>
                <a:latin typeface="Calibri" pitchFamily="34" charset="0"/>
                <a:ea typeface="Calibri" pitchFamily="34" charset="-122"/>
                <a:cs typeface="Calibri" pitchFamily="34" charset="-120"/>
              </a:rPr>
              <a:t>distinctive</a:t>
            </a:r>
            <a:endParaRPr lang="en-US" sz="3400" dirty="0"/>
          </a:p>
        </p:txBody>
      </p:sp>
      <p:sp>
        <p:nvSpPr>
          <p:cNvPr id="4" name="Shape 2"/>
          <p:cNvSpPr/>
          <p:nvPr/>
        </p:nvSpPr>
        <p:spPr>
          <a:xfrm>
            <a:off x="329184" y="2176272"/>
            <a:ext cx="54864" cy="475488"/>
          </a:xfrm>
          <a:prstGeom prst="rect">
            <a:avLst/>
          </a:prstGeom>
          <a:solidFill>
            <a:srgbClr val="56B6C2"/>
          </a:solidFill>
          <a:ln w="12700">
            <a:solidFill>
              <a:srgbClr val="56B6C2"/>
            </a:solidFill>
            <a:prstDash val="solid"/>
          </a:ln>
        </p:spPr>
      </p:sp>
      <p:sp>
        <p:nvSpPr>
          <p:cNvPr id="5" name="Text 3"/>
          <p:cNvSpPr/>
          <p:nvPr/>
        </p:nvSpPr>
        <p:spPr>
          <a:xfrm>
            <a:off x="512064" y="2176272"/>
            <a:ext cx="4206240" cy="475488"/>
          </a:xfrm>
          <a:prstGeom prst="rect">
            <a:avLst/>
          </a:prstGeom>
          <a:noFill/>
          <a:ln/>
        </p:spPr>
        <p:txBody>
          <a:bodyPr wrap="square" lIns="0" tIns="0" rIns="0" bIns="0" rtlCol="0" anchor="ctr"/>
          <a:lstStyle/>
          <a:p>
            <a:pPr indent="0" marL="0">
              <a:buNone/>
            </a:pPr>
            <a:r>
              <a:rPr lang="en-US" sz="1300" dirty="0">
                <a:solidFill>
                  <a:srgbClr val="ABB2BF"/>
                </a:solidFill>
              </a:rPr>
              <a:t>Role-based access control enforced independently on both frontend and backend</a:t>
            </a:r>
            <a:endParaRPr lang="en-US" sz="1300" dirty="0"/>
          </a:p>
        </p:txBody>
      </p:sp>
      <p:sp>
        <p:nvSpPr>
          <p:cNvPr id="6" name="Shape 4"/>
          <p:cNvSpPr/>
          <p:nvPr/>
        </p:nvSpPr>
        <p:spPr>
          <a:xfrm>
            <a:off x="329184" y="2852928"/>
            <a:ext cx="54864" cy="475488"/>
          </a:xfrm>
          <a:prstGeom prst="rect">
            <a:avLst/>
          </a:prstGeom>
          <a:solidFill>
            <a:srgbClr val="C678DD"/>
          </a:solidFill>
          <a:ln w="12700">
            <a:solidFill>
              <a:srgbClr val="C678DD"/>
            </a:solidFill>
            <a:prstDash val="solid"/>
          </a:ln>
        </p:spPr>
      </p:sp>
      <p:sp>
        <p:nvSpPr>
          <p:cNvPr id="7" name="Text 5"/>
          <p:cNvSpPr/>
          <p:nvPr/>
        </p:nvSpPr>
        <p:spPr>
          <a:xfrm>
            <a:off x="512064" y="2852928"/>
            <a:ext cx="4206240" cy="475488"/>
          </a:xfrm>
          <a:prstGeom prst="rect">
            <a:avLst/>
          </a:prstGeom>
          <a:noFill/>
          <a:ln/>
        </p:spPr>
        <p:txBody>
          <a:bodyPr wrap="square" lIns="0" tIns="0" rIns="0" bIns="0" rtlCol="0" anchor="ctr"/>
          <a:lstStyle/>
          <a:p>
            <a:pPr indent="0" marL="0">
              <a:buNone/>
            </a:pPr>
            <a:r>
              <a:rPr lang="en-US" sz="1300" dirty="0">
                <a:solidFill>
                  <a:srgbClr val="ABB2BF"/>
                </a:solidFill>
              </a:rPr>
              <a:t>Automated alert lifecycle — raised, updated and resolved without manual intervention</a:t>
            </a:r>
            <a:endParaRPr lang="en-US" sz="1300" dirty="0"/>
          </a:p>
        </p:txBody>
      </p:sp>
      <p:sp>
        <p:nvSpPr>
          <p:cNvPr id="8" name="Shape 6"/>
          <p:cNvSpPr/>
          <p:nvPr/>
        </p:nvSpPr>
        <p:spPr>
          <a:xfrm>
            <a:off x="329184" y="3529584"/>
            <a:ext cx="54864" cy="475488"/>
          </a:xfrm>
          <a:prstGeom prst="rect">
            <a:avLst/>
          </a:prstGeom>
          <a:solidFill>
            <a:srgbClr val="61AFEF"/>
          </a:solidFill>
          <a:ln w="12700">
            <a:solidFill>
              <a:srgbClr val="61AFEF"/>
            </a:solidFill>
            <a:prstDash val="solid"/>
          </a:ln>
        </p:spPr>
      </p:sp>
      <p:sp>
        <p:nvSpPr>
          <p:cNvPr id="9" name="Text 7"/>
          <p:cNvSpPr/>
          <p:nvPr/>
        </p:nvSpPr>
        <p:spPr>
          <a:xfrm>
            <a:off x="512064" y="3529584"/>
            <a:ext cx="4206240" cy="475488"/>
          </a:xfrm>
          <a:prstGeom prst="rect">
            <a:avLst/>
          </a:prstGeom>
          <a:noFill/>
          <a:ln/>
        </p:spPr>
        <p:txBody>
          <a:bodyPr wrap="square" lIns="0" tIns="0" rIns="0" bIns="0" rtlCol="0" anchor="ctr"/>
          <a:lstStyle/>
          <a:p>
            <a:pPr indent="0" marL="0">
              <a:buNone/>
            </a:pPr>
            <a:r>
              <a:rPr lang="en-US" sz="1300" dirty="0">
                <a:solidFill>
                  <a:srgbClr val="ABB2BF"/>
                </a:solidFill>
              </a:rPr>
              <a:t>Operational efficiency — bulk task scheduling and full maintenance history export built in</a:t>
            </a:r>
            <a:endParaRPr lang="en-US" sz="1300" dirty="0"/>
          </a:p>
        </p:txBody>
      </p:sp>
      <p:sp>
        <p:nvSpPr>
          <p:cNvPr id="10" name="Shape 8"/>
          <p:cNvSpPr/>
          <p:nvPr/>
        </p:nvSpPr>
        <p:spPr>
          <a:xfrm>
            <a:off x="5029200" y="0"/>
            <a:ext cx="4114800" cy="5143500"/>
          </a:xfrm>
          <a:prstGeom prst="rect">
            <a:avLst/>
          </a:prstGeom>
          <a:solidFill>
            <a:srgbClr val="21252B"/>
          </a:solidFill>
          <a:ln w="12700">
            <a:solidFill>
              <a:srgbClr val="21252B"/>
            </a:solidFill>
            <a:prstDash val="solid"/>
          </a:ln>
        </p:spPr>
      </p:sp>
      <p:sp>
        <p:nvSpPr>
          <p:cNvPr id="11" name="Text 9"/>
          <p:cNvSpPr/>
          <p:nvPr/>
        </p:nvSpPr>
        <p:spPr>
          <a:xfrm>
            <a:off x="5212080" y="640080"/>
            <a:ext cx="3749040" cy="457200"/>
          </a:xfrm>
          <a:prstGeom prst="rect">
            <a:avLst/>
          </a:prstGeom>
          <a:noFill/>
          <a:ln/>
        </p:spPr>
        <p:txBody>
          <a:bodyPr wrap="square" lIns="0" tIns="0" rIns="0" bIns="0" rtlCol="0" anchor="ctr"/>
          <a:lstStyle/>
          <a:p>
            <a:pPr indent="0" marL="0">
              <a:buNone/>
            </a:pPr>
            <a:r>
              <a:rPr lang="en-US" sz="2200" b="1" dirty="0">
                <a:solidFill>
                  <a:srgbClr val="56B6C2"/>
                </a:solidFill>
              </a:rPr>
              <a:t>Links</a:t>
            </a:r>
            <a:endParaRPr lang="en-US" sz="2200" dirty="0"/>
          </a:p>
        </p:txBody>
      </p:sp>
      <p:sp>
        <p:nvSpPr>
          <p:cNvPr id="12" name="Shape 10"/>
          <p:cNvSpPr/>
          <p:nvPr/>
        </p:nvSpPr>
        <p:spPr>
          <a:xfrm>
            <a:off x="5212080" y="1280160"/>
            <a:ext cx="3657600" cy="877824"/>
          </a:xfrm>
          <a:prstGeom prst="rect">
            <a:avLst/>
          </a:prstGeom>
          <a:solidFill>
            <a:srgbClr val="2C313C"/>
          </a:solidFill>
          <a:ln w="12700">
            <a:solidFill>
              <a:srgbClr val="98C379"/>
            </a:solidFill>
            <a:prstDash val="solid"/>
          </a:ln>
        </p:spPr>
      </p:sp>
      <p:sp>
        <p:nvSpPr>
          <p:cNvPr id="13" name="Text 11"/>
          <p:cNvSpPr/>
          <p:nvPr/>
        </p:nvSpPr>
        <p:spPr>
          <a:xfrm>
            <a:off x="5349240" y="1353312"/>
            <a:ext cx="3383280" cy="274320"/>
          </a:xfrm>
          <a:prstGeom prst="rect">
            <a:avLst/>
          </a:prstGeom>
          <a:noFill/>
          <a:ln/>
        </p:spPr>
        <p:txBody>
          <a:bodyPr wrap="square" lIns="0" tIns="0" rIns="0" bIns="0" rtlCol="0" anchor="ctr"/>
          <a:lstStyle/>
          <a:p>
            <a:pPr indent="0" marL="0">
              <a:buNone/>
            </a:pPr>
            <a:r>
              <a:rPr lang="en-US" sz="1200" b="1" dirty="0">
                <a:solidFill>
                  <a:srgbClr val="98C379"/>
                </a:solidFill>
              </a:rPr>
              <a:t>Live App</a:t>
            </a:r>
            <a:endParaRPr lang="en-US" sz="1200" dirty="0"/>
          </a:p>
        </p:txBody>
      </p:sp>
      <p:sp>
        <p:nvSpPr>
          <p:cNvPr id="14" name="Text 12"/>
          <p:cNvSpPr/>
          <p:nvPr/>
        </p:nvSpPr>
        <p:spPr>
          <a:xfrm>
            <a:off x="5349240" y="1682496"/>
            <a:ext cx="3383280" cy="329184"/>
          </a:xfrm>
          <a:prstGeom prst="rect">
            <a:avLst/>
          </a:prstGeom>
          <a:noFill/>
          <a:ln/>
        </p:spPr>
        <p:txBody>
          <a:bodyPr wrap="square" lIns="0" tIns="0" rIns="0" bIns="0" rtlCol="0" anchor="ctr"/>
          <a:lstStyle/>
          <a:p>
            <a:pPr indent="0" marL="0">
              <a:buNone/>
            </a:pPr>
            <a:r>
              <a:rPr lang="en-US" sz="950" dirty="0">
                <a:solidFill>
                  <a:srgbClr val="ABB2BF"/>
                </a:solidFill>
                <a:latin typeface="Consolas" pitchFamily="34" charset="0"/>
                <a:ea typeface="Consolas" pitchFamily="34" charset="-122"/>
                <a:cs typeface="Consolas" pitchFamily="34" charset="-120"/>
              </a:rPr>
              <a:t>machine-scheduler-deployment.up.railway.app</a:t>
            </a:r>
            <a:endParaRPr lang="en-US" sz="950" dirty="0"/>
          </a:p>
        </p:txBody>
      </p:sp>
      <p:sp>
        <p:nvSpPr>
          <p:cNvPr id="15" name="Shape 13"/>
          <p:cNvSpPr/>
          <p:nvPr/>
        </p:nvSpPr>
        <p:spPr>
          <a:xfrm>
            <a:off x="5212080" y="2359152"/>
            <a:ext cx="3657600" cy="877824"/>
          </a:xfrm>
          <a:prstGeom prst="rect">
            <a:avLst/>
          </a:prstGeom>
          <a:solidFill>
            <a:srgbClr val="2C313C"/>
          </a:solidFill>
          <a:ln w="12700">
            <a:solidFill>
              <a:srgbClr val="61AFEF"/>
            </a:solidFill>
            <a:prstDash val="solid"/>
          </a:ln>
        </p:spPr>
      </p:sp>
      <p:sp>
        <p:nvSpPr>
          <p:cNvPr id="16" name="Text 14"/>
          <p:cNvSpPr/>
          <p:nvPr/>
        </p:nvSpPr>
        <p:spPr>
          <a:xfrm>
            <a:off x="5349240" y="2432304"/>
            <a:ext cx="3383280" cy="274320"/>
          </a:xfrm>
          <a:prstGeom prst="rect">
            <a:avLst/>
          </a:prstGeom>
          <a:noFill/>
          <a:ln/>
        </p:spPr>
        <p:txBody>
          <a:bodyPr wrap="square" lIns="0" tIns="0" rIns="0" bIns="0" rtlCol="0" anchor="ctr"/>
          <a:lstStyle/>
          <a:p>
            <a:pPr indent="0" marL="0">
              <a:buNone/>
            </a:pPr>
            <a:r>
              <a:rPr lang="en-US" sz="1200" b="1" dirty="0">
                <a:solidFill>
                  <a:srgbClr val="61AFEF"/>
                </a:solidFill>
              </a:rPr>
              <a:t>GitHub</a:t>
            </a:r>
            <a:endParaRPr lang="en-US" sz="1200" dirty="0"/>
          </a:p>
        </p:txBody>
      </p:sp>
      <p:sp>
        <p:nvSpPr>
          <p:cNvPr id="17" name="Text 15"/>
          <p:cNvSpPr/>
          <p:nvPr/>
        </p:nvSpPr>
        <p:spPr>
          <a:xfrm>
            <a:off x="5349240" y="2761488"/>
            <a:ext cx="3383280" cy="329184"/>
          </a:xfrm>
          <a:prstGeom prst="rect">
            <a:avLst/>
          </a:prstGeom>
          <a:noFill/>
          <a:ln/>
        </p:spPr>
        <p:txBody>
          <a:bodyPr wrap="square" lIns="0" tIns="0" rIns="0" bIns="0" rtlCol="0" anchor="ctr"/>
          <a:lstStyle/>
          <a:p>
            <a:pPr indent="0" marL="0">
              <a:buNone/>
            </a:pPr>
            <a:r>
              <a:rPr lang="en-US" sz="950" dirty="0">
                <a:solidFill>
                  <a:srgbClr val="ABB2BF"/>
                </a:solidFill>
                <a:latin typeface="Consolas" pitchFamily="34" charset="0"/>
                <a:ea typeface="Consolas" pitchFamily="34" charset="-122"/>
                <a:cs typeface="Consolas" pitchFamily="34" charset="-120"/>
              </a:rPr>
              <a:t>github.com/SurajKarthikeyan/maintenance-scheduler</a:t>
            </a:r>
            <a:endParaRPr lang="en-US" sz="950" dirty="0"/>
          </a:p>
        </p:txBody>
      </p:sp>
      <p:sp>
        <p:nvSpPr>
          <p:cNvPr id="18" name="Shape 16"/>
          <p:cNvSpPr/>
          <p:nvPr/>
        </p:nvSpPr>
        <p:spPr>
          <a:xfrm>
            <a:off x="5212080" y="3438144"/>
            <a:ext cx="3657600" cy="877824"/>
          </a:xfrm>
          <a:prstGeom prst="rect">
            <a:avLst/>
          </a:prstGeom>
          <a:solidFill>
            <a:srgbClr val="2C313C"/>
          </a:solidFill>
          <a:ln w="12700">
            <a:solidFill>
              <a:srgbClr val="C678DD"/>
            </a:solidFill>
            <a:prstDash val="solid"/>
          </a:ln>
        </p:spPr>
      </p:sp>
      <p:sp>
        <p:nvSpPr>
          <p:cNvPr id="19" name="Text 17"/>
          <p:cNvSpPr/>
          <p:nvPr/>
        </p:nvSpPr>
        <p:spPr>
          <a:xfrm>
            <a:off x="5349240" y="3511296"/>
            <a:ext cx="3383280" cy="274320"/>
          </a:xfrm>
          <a:prstGeom prst="rect">
            <a:avLst/>
          </a:prstGeom>
          <a:noFill/>
          <a:ln/>
        </p:spPr>
        <p:txBody>
          <a:bodyPr wrap="square" lIns="0" tIns="0" rIns="0" bIns="0" rtlCol="0" anchor="ctr"/>
          <a:lstStyle/>
          <a:p>
            <a:pPr indent="0" marL="0">
              <a:buNone/>
            </a:pPr>
            <a:r>
              <a:rPr lang="en-US" sz="1200" b="1" dirty="0">
                <a:solidFill>
                  <a:srgbClr val="C678DD"/>
                </a:solidFill>
              </a:rPr>
              <a:t>Tech Docs</a:t>
            </a:r>
            <a:endParaRPr lang="en-US" sz="1200" dirty="0"/>
          </a:p>
        </p:txBody>
      </p:sp>
      <p:sp>
        <p:nvSpPr>
          <p:cNvPr id="20" name="Text 18"/>
          <p:cNvSpPr/>
          <p:nvPr/>
        </p:nvSpPr>
        <p:spPr>
          <a:xfrm>
            <a:off x="5349240" y="3840480"/>
            <a:ext cx="3383280" cy="329184"/>
          </a:xfrm>
          <a:prstGeom prst="rect">
            <a:avLst/>
          </a:prstGeom>
          <a:noFill/>
          <a:ln/>
        </p:spPr>
        <p:txBody>
          <a:bodyPr wrap="square" lIns="0" tIns="0" rIns="0" bIns="0" rtlCol="0" anchor="ctr"/>
          <a:lstStyle/>
          <a:p>
            <a:pPr indent="0" marL="0">
              <a:buNone/>
            </a:pPr>
            <a:r>
              <a:rPr lang="en-US" sz="950" dirty="0">
                <a:solidFill>
                  <a:srgbClr val="ABB2BF"/>
                </a:solidFill>
                <a:latin typeface="Consolas" pitchFamily="34" charset="0"/>
                <a:ea typeface="Consolas" pitchFamily="34" charset="-122"/>
                <a:cs typeface="Consolas" pitchFamily="34" charset="-120"/>
              </a:rPr>
              <a:t>Technical_Documentation.pdf</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Maintenance Scheduler</dc:title>
  <dc:subject>PptxGenJS Presentation</dc:subject>
  <dc:creator>Suraj Karthikeyan</dc:creator>
  <cp:lastModifiedBy>Suraj Karthikeyan</cp:lastModifiedBy>
  <cp:revision>1</cp:revision>
  <dcterms:created xsi:type="dcterms:W3CDTF">2026-03-15T09:56:43Z</dcterms:created>
  <dcterms:modified xsi:type="dcterms:W3CDTF">2026-03-15T09:56:43Z</dcterms:modified>
</cp:coreProperties>
</file>